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67403" autoAdjust="0"/>
  </p:normalViewPr>
  <p:slideViewPr>
    <p:cSldViewPr snapToGrid="0">
      <p:cViewPr varScale="1">
        <p:scale>
          <a:sx n="82" d="100"/>
          <a:sy n="82" d="100"/>
        </p:scale>
        <p:origin x="1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F3674-9040-4152-9937-EB98EBBC57B8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5FB48-9FCF-4822-8F88-2FE1EB4CC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5FB48-9FCF-4822-8F88-2FE1EB4CC0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240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5FB48-9FCF-4822-8F88-2FE1EB4CC0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95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17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4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6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4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97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6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22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77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1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15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29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341A06E-E481-4493-9072-9C6F40D87EDF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814C339-6501-4060-8036-BE8163BB280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32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FC16-BC62-58AC-C649-97C002D728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Walmart Enterprise Data Architecture &amp; </a:t>
            </a:r>
            <a:r>
              <a:rPr lang="en-US" dirty="0" err="1"/>
              <a:t>GreenCart</a:t>
            </a:r>
            <a:r>
              <a:rPr lang="en-US" dirty="0"/>
              <a:t> Sustainability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4BF7A-9292-5CDC-F3AF-416E2655CB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Team 10:</a:t>
            </a:r>
            <a:br>
              <a:rPr lang="en-US" dirty="0"/>
            </a:br>
            <a:r>
              <a:rPr lang="en-US" dirty="0"/>
              <a:t>Smriti Goyal, Siji </a:t>
            </a:r>
            <a:r>
              <a:rPr lang="en-US" dirty="0" err="1"/>
              <a:t>Akinkugbe</a:t>
            </a:r>
            <a:r>
              <a:rPr lang="en-US" dirty="0"/>
              <a:t>, Tanay Jalan, </a:t>
            </a:r>
            <a:r>
              <a:rPr lang="en-US" dirty="0" err="1"/>
              <a:t>Jianyao</a:t>
            </a:r>
            <a:r>
              <a:rPr lang="en-US" dirty="0"/>
              <a:t> Gao</a:t>
            </a:r>
          </a:p>
        </p:txBody>
      </p:sp>
    </p:spTree>
    <p:extLst>
      <p:ext uri="{BB962C8B-B14F-4D97-AF65-F5344CB8AC3E}">
        <p14:creationId xmlns:p14="http://schemas.microsoft.com/office/powerpoint/2010/main" val="323599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0AD9-1112-F0FF-995B-04992E79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Needs and Workload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22D2E-727B-1C8B-2901-6971CA79B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Operational Needs:</a:t>
            </a:r>
            <a:endParaRPr lang="en-US" sz="16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Checkout processing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Promotions &amp; discounts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Payments &amp; inventory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Decision-Making Needs:</a:t>
            </a:r>
            <a:endParaRPr lang="en-US" sz="16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Customer behavior analysis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Revenue &amp; pricing trends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Three Data Workload Categories: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OLTP transactions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Flexible operational intelligence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Large-scale enterprise analytics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CC9E17-5AF4-28A6-E6AC-16D25D7ADA04}"/>
              </a:ext>
            </a:extLst>
          </p:cNvPr>
          <p:cNvSpPr txBox="1">
            <a:spLocks/>
          </p:cNvSpPr>
          <p:nvPr/>
        </p:nvSpPr>
        <p:spPr>
          <a:xfrm>
            <a:off x="6096000" y="1845734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/>
              <a:t>Original Real-World Dataset Used: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1400" dirty="0"/>
              <a:t>Online Retail II Dataset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1400" dirty="0"/>
              <a:t>~ 1M real transaction records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1400" dirty="0"/>
              <a:t>Fields: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InvoiceID</a:t>
            </a:r>
            <a:r>
              <a:rPr lang="en-US" sz="1400" dirty="0"/>
              <a:t>, </a:t>
            </a:r>
            <a:r>
              <a:rPr lang="en-US" sz="1400" dirty="0" err="1"/>
              <a:t>CustomerID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StockCode</a:t>
            </a:r>
            <a:r>
              <a:rPr lang="en-US" sz="1400" dirty="0"/>
              <a:t>, Description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Quantity, </a:t>
            </a:r>
            <a:r>
              <a:rPr lang="en-US" sz="1400" dirty="0" err="1"/>
              <a:t>UnitPrice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InvoiceDate</a:t>
            </a:r>
            <a:r>
              <a:rPr lang="en-US" sz="1400" dirty="0"/>
              <a:t>, Country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Synthetic Data used to seed: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OLTP transactions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MongoDB transaction collections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Hive retail fact tables</a:t>
            </a:r>
          </a:p>
          <a:p>
            <a:pPr>
              <a:lnSpc>
                <a:spcPct val="10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8925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87911-CC9C-C015-A94B-7DD8FCF40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OLTP System: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82CB5-F507-E11D-1751-86C73705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6400" b="1" dirty="0"/>
              <a:t>Purpose: High-Integrity Master Data</a:t>
            </a:r>
          </a:p>
          <a:p>
            <a:pPr>
              <a:lnSpc>
                <a:spcPct val="120000"/>
              </a:lnSpc>
            </a:pPr>
            <a:r>
              <a:rPr lang="en-US" sz="5600" b="1" dirty="0"/>
              <a:t>Core Tables: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Customers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Products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Stores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Inventory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Payment Methods</a:t>
            </a:r>
          </a:p>
          <a:p>
            <a:pPr>
              <a:lnSpc>
                <a:spcPct val="120000"/>
              </a:lnSpc>
            </a:pPr>
            <a:r>
              <a:rPr lang="en-US" sz="6400" b="1" dirty="0"/>
              <a:t>Why MySQL?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600" b="1" dirty="0"/>
              <a:t>Strong ACID compliance required for: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Payments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Inventory updates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Customer identity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A65449-672E-E108-2731-724D50556D16}"/>
              </a:ext>
            </a:extLst>
          </p:cNvPr>
          <p:cNvSpPr txBox="1">
            <a:spLocks/>
          </p:cNvSpPr>
          <p:nvPr/>
        </p:nvSpPr>
        <p:spPr>
          <a:xfrm>
            <a:off x="6096000" y="1845734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Strict schema enforcement prevents: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Orphan records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Invalid transactions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Optimized for high-frequency inserts &amp; updates at checkout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Why This Structure?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Fully normalized ER design avoids data duplication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Clean foreign-key relationships ensure: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Inventory always maps to valid stores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Transactions always reference valid customers &amp; products</a:t>
            </a:r>
          </a:p>
        </p:txBody>
      </p:sp>
    </p:spTree>
    <p:extLst>
      <p:ext uri="{BB962C8B-B14F-4D97-AF65-F5344CB8AC3E}">
        <p14:creationId xmlns:p14="http://schemas.microsoft.com/office/powerpoint/2010/main" val="171305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EDC8-CECF-4BCD-6113-85808E86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System: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876D1-1B36-C4B5-5553-5758E3D38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What is Stored in MongoDB?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transaction_header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transaction_line_item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promotion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promotion_eligibility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customer_loyalty_profile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customer_features</a:t>
            </a: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D5BFBA-D93D-9760-EA57-51861D617752}"/>
              </a:ext>
            </a:extLst>
          </p:cNvPr>
          <p:cNvSpPr txBox="1">
            <a:spLocks/>
          </p:cNvSpPr>
          <p:nvPr/>
        </p:nvSpPr>
        <p:spPr>
          <a:xfrm>
            <a:off x="6096000" y="1845734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2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6400" b="1" dirty="0"/>
              <a:t>Why was MongoDB Chosen?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600" b="1" dirty="0"/>
              <a:t>Handles millions of records at scale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600" b="1" dirty="0"/>
              <a:t>Supports schema flexibility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Promotions change frequently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Loyalty logic evolves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600" b="1" dirty="0"/>
              <a:t>Enables document-based reads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Entire transaction in one fetch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5600" b="1" dirty="0"/>
              <a:t>Prioritizes Availability + Partition Tolerance (AP) under CAP</a:t>
            </a:r>
          </a:p>
          <a:p>
            <a:pPr>
              <a:lnSpc>
                <a:spcPct val="120000"/>
              </a:lnSpc>
            </a:pPr>
            <a:r>
              <a:rPr lang="en-US" sz="6400" b="1" dirty="0"/>
              <a:t>Why Not MySQL for This Layer?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Large joins slow down OLTP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Schema changes cause downtime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5600" dirty="0"/>
              <a:t>High write volume degrades relational performance</a:t>
            </a:r>
          </a:p>
        </p:txBody>
      </p:sp>
    </p:spTree>
    <p:extLst>
      <p:ext uri="{BB962C8B-B14F-4D97-AF65-F5344CB8AC3E}">
        <p14:creationId xmlns:p14="http://schemas.microsoft.com/office/powerpoint/2010/main" val="3261077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EE92-5257-13BC-8904-C1FAFA09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Big Data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6830-EE34-C25F-29CA-600ADECC9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Data Flow Architecture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MongoDB → S3 → HDFS → Hive External Tables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What Hive Is Used For?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Multi-year revenue analysis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Store-level benchmarking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Promotion effectiveness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Category performance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Customer segmentation</a:t>
            </a:r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D57EA8-5178-8187-525C-520DC8FA62ED}"/>
              </a:ext>
            </a:extLst>
          </p:cNvPr>
          <p:cNvSpPr txBox="1">
            <a:spLocks/>
          </p:cNvSpPr>
          <p:nvPr/>
        </p:nvSpPr>
        <p:spPr>
          <a:xfrm>
            <a:off x="6096000" y="1845734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/>
              <a:t>Why Was Hive Chosen?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Designed for distributed batch analytics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Processes hundreds of millions of rows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Optimized for: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Large joins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Aggregations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Group-by queries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Scales using parallel compute (EMR / Hadoop)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Why Not MySQL for Enterprise Analytics?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MySQL cannot efficiently scan massive datasets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Hive executes analytics in parallel across clusters</a:t>
            </a:r>
          </a:p>
        </p:txBody>
      </p:sp>
    </p:spTree>
    <p:extLst>
      <p:ext uri="{BB962C8B-B14F-4D97-AF65-F5344CB8AC3E}">
        <p14:creationId xmlns:p14="http://schemas.microsoft.com/office/powerpoint/2010/main" val="400054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5CD45-A5B4-5372-196D-A2FC342F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GreenCart</a:t>
            </a:r>
            <a:r>
              <a:rPr lang="en-US" dirty="0"/>
              <a:t> Advisor: Motivation &amp;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5B41-23F4-6883-5B4D-AB005D97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Problem: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Walmart promotes sustainability at the corporate level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Customers lack real-time sustainability guidance</a:t>
            </a:r>
          </a:p>
          <a:p>
            <a:pPr marL="201168" lvl="1" indent="0">
              <a:lnSpc>
                <a:spcPct val="100000"/>
              </a:lnSpc>
              <a:buNone/>
            </a:pPr>
            <a:r>
              <a:rPr lang="en-US" sz="1600" b="1" dirty="0"/>
              <a:t>Solution: </a:t>
            </a:r>
            <a:r>
              <a:rPr lang="en-US" sz="1600" b="1" dirty="0" err="1"/>
              <a:t>GreenCart</a:t>
            </a:r>
            <a:r>
              <a:rPr lang="en-US" sz="1600" b="1" dirty="0"/>
              <a:t> Advisor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Recommends Real-time eco-friendly alternatives during shopping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Shows: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Sustainability score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Carbon footprint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Price difference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740E3E4-9F08-591F-9918-C3A373A5A2DB}"/>
              </a:ext>
            </a:extLst>
          </p:cNvPr>
          <p:cNvSpPr txBox="1">
            <a:spLocks/>
          </p:cNvSpPr>
          <p:nvPr/>
        </p:nvSpPr>
        <p:spPr>
          <a:xfrm>
            <a:off x="6096000" y="1845734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b="1" dirty="0"/>
              <a:t>Records: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Acceptance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Rejection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Willingness-to-pay for sustainability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Business Impact:</a:t>
            </a:r>
            <a:endParaRPr lang="en-US" sz="16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Increases sustainable product adoption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Captures willingness-to-pay for sustainability</a:t>
            </a:r>
          </a:p>
          <a:p>
            <a:pPr marL="201168" lvl="1" indent="0">
              <a:lnSpc>
                <a:spcPct val="100000"/>
              </a:lnSpc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4862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1D7F-B499-02B9-DCBB-D43CF406E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GreenCart</a:t>
            </a:r>
            <a:r>
              <a:rPr lang="en-US" dirty="0"/>
              <a:t> Dataset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A2B76-BAB9-8C4E-C38C-F3335D156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New Tables Created: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product_sustainability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customer_sustainability_profile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sustainable_recommendation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sustainable_feedback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New Sustainability Data: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Product sustainability scores (0–100)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Carbon emissions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Water usage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Packaging types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Local sourcing flags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0D4730-1822-2AAF-0444-77689862AA9A}"/>
              </a:ext>
            </a:extLst>
          </p:cNvPr>
          <p:cNvSpPr txBox="1">
            <a:spLocks/>
          </p:cNvSpPr>
          <p:nvPr/>
        </p:nvSpPr>
        <p:spPr>
          <a:xfrm>
            <a:off x="6096000" y="1845734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Customer Sustainability Profiles (Synthetic)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Sustainability goals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Price sensitivity weights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Environmental preference weights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/>
              <a:t>Generated by: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seed_csv.py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Based on: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Product price levels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Loyalty tiers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Realistic behavioral assumptions</a:t>
            </a:r>
          </a:p>
        </p:txBody>
      </p:sp>
    </p:spTree>
    <p:extLst>
      <p:ext uri="{BB962C8B-B14F-4D97-AF65-F5344CB8AC3E}">
        <p14:creationId xmlns:p14="http://schemas.microsoft.com/office/powerpoint/2010/main" val="624228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D9F2-B4D6-7024-86AC-13A4D48E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GreenCart</a:t>
            </a:r>
            <a:r>
              <a:rPr lang="en-US" dirty="0"/>
              <a:t> Front-End &amp; Business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FD70C-B02E-4226-F5B8-BF03835DD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 err="1"/>
              <a:t>Streamlit</a:t>
            </a:r>
            <a:r>
              <a:rPr lang="en-US" sz="1600" b="1" dirty="0"/>
              <a:t> Interface:</a:t>
            </a:r>
            <a:endParaRPr lang="en-US" sz="16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Browse products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Receive green alternatives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Accept or reject recommendations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Each action writes to MySQL in real time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Business Value:</a:t>
            </a:r>
            <a:endParaRPr lang="en-US" sz="16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Behavioral nudging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Improved sustainable inventory turnover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Rich analytics on environmental price sensitivity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ESG strategy enablement</a:t>
            </a:r>
          </a:p>
        </p:txBody>
      </p:sp>
    </p:spTree>
    <p:extLst>
      <p:ext uri="{BB962C8B-B14F-4D97-AF65-F5344CB8AC3E}">
        <p14:creationId xmlns:p14="http://schemas.microsoft.com/office/powerpoint/2010/main" val="760407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A2E2-1D37-185D-A23A-C630C6D99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GreenCart</a:t>
            </a:r>
            <a:r>
              <a:rPr lang="en-US" dirty="0"/>
              <a:t> Data Warehouse Design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3723E8-072F-4884-094D-2ED49EFF9309}"/>
              </a:ext>
            </a:extLst>
          </p:cNvPr>
          <p:cNvSpPr txBox="1">
            <a:spLocks/>
          </p:cNvSpPr>
          <p:nvPr/>
        </p:nvSpPr>
        <p:spPr>
          <a:xfrm>
            <a:off x="1127760" y="1845734"/>
            <a:ext cx="100279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/>
              <a:t>Dimension Tables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dim_date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dim_customer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dim_loyalty_tier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dim_sustainability_goal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dim_channel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dim_store</a:t>
            </a:r>
            <a:endParaRPr lang="en-US" sz="14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dim_product</a:t>
            </a:r>
            <a:endParaRPr lang="en-US" sz="1400" dirty="0"/>
          </a:p>
          <a:p>
            <a:pPr>
              <a:lnSpc>
                <a:spcPct val="100000"/>
              </a:lnSpc>
            </a:pPr>
            <a:r>
              <a:rPr lang="en-US" sz="1600" b="1" dirty="0"/>
              <a:t>Fact Table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fact_green_recommendation</a:t>
            </a:r>
            <a:endParaRPr lang="en-US" sz="1400" dirty="0"/>
          </a:p>
          <a:p>
            <a:pPr>
              <a:lnSpc>
                <a:spcPct val="100000"/>
              </a:lnSpc>
            </a:pPr>
            <a:r>
              <a:rPr lang="en-US" sz="1600" b="1" dirty="0"/>
              <a:t>Grain:</a:t>
            </a:r>
            <a:br>
              <a:rPr lang="en-US" sz="1600" dirty="0"/>
            </a:br>
            <a:r>
              <a:rPr lang="en-US" sz="1600" b="1" dirty="0"/>
              <a:t>1 Row = 1 Sustainability Recommendation Event</a:t>
            </a:r>
            <a:endParaRPr lang="en-US" sz="1600" dirty="0"/>
          </a:p>
          <a:p>
            <a:pPr marL="201168" lvl="1" indent="0">
              <a:lnSpc>
                <a:spcPct val="100000"/>
              </a:lnSpc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3327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4BD0-A5C8-B674-8A5C-66D53FE49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E4498-E895-DB28-C8FD-9A13414E9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GreenCart</a:t>
            </a:r>
            <a:r>
              <a:rPr lang="en-US" dirty="0"/>
              <a:t> Data Warehouse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2425-8155-46B7-B976-996DB4708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760" y="1850311"/>
            <a:ext cx="4998720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Why a Separate Data Warehouse?</a:t>
            </a:r>
            <a:endParaRPr lang="en-US" sz="1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OLTP systems are optimized for: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Speed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Inserts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Simplifies: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BI reporting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SQL queries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Improves: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Join performance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Aggregation speed</a:t>
            </a:r>
          </a:p>
          <a:p>
            <a:pPr lvl="1"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1A5D3D-3090-632E-35BD-E4D34327D08E}"/>
              </a:ext>
            </a:extLst>
          </p:cNvPr>
          <p:cNvSpPr txBox="1">
            <a:spLocks/>
          </p:cNvSpPr>
          <p:nvPr/>
        </p:nvSpPr>
        <p:spPr>
          <a:xfrm>
            <a:off x="6096000" y="1850311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Enables: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Time-series analysis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Customer segmentation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Product-category analysis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400" b="1" dirty="0"/>
              <a:t>Allows: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Exact acceptance rate calculations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Precise sustainability gain tracking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Price sensitivity modeling</a:t>
            </a:r>
          </a:p>
          <a:p>
            <a:pPr lvl="1">
              <a:lnSpc>
                <a:spcPct val="10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36956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8B93-5F38-16FF-20C4-C2F73227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Pipeline &amp; 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29BE2-6CB9-F1DF-F030-8494C43A6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ETL Pipeline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seed_recommendations.py → OLTP events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etl_walmart_dw.sql</a:t>
            </a:r>
            <a:r>
              <a:rPr lang="en-US" sz="1400" dirty="0"/>
              <a:t> → DW load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seed_dim_date.py → Date dimension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ETL Input Composition</a:t>
            </a:r>
            <a:endParaRPr lang="en-US" sz="16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Real transaction distributions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Synthetic sustainability features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Synthetic recommendation decisions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Why This Matters?</a:t>
            </a:r>
            <a:endParaRPr lang="en-US" sz="16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Allows controlled scenario testing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Enables what-if sustainability forecasting</a:t>
            </a:r>
          </a:p>
        </p:txBody>
      </p:sp>
    </p:spTree>
    <p:extLst>
      <p:ext uri="{BB962C8B-B14F-4D97-AF65-F5344CB8AC3E}">
        <p14:creationId xmlns:p14="http://schemas.microsoft.com/office/powerpoint/2010/main" val="3627632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39A8-4B93-877F-734C-3C3CACB0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Impact, Challenges &amp; Wrap-Up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C6F3B-0300-671B-8013-D0397C3ED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4998720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Why Multi-Database Architecture Was Necessary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No single database can: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Provide strict consistency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High availability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Horizontal scalability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Massive analytics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We intentionally used: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MySQL for correctness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MongoDB for scale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Hive for history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966372-40B6-ED6A-7A19-36F1361131AB}"/>
              </a:ext>
            </a:extLst>
          </p:cNvPr>
          <p:cNvSpPr txBox="1">
            <a:spLocks/>
          </p:cNvSpPr>
          <p:nvPr/>
        </p:nvSpPr>
        <p:spPr>
          <a:xfrm>
            <a:off x="6096000" y="1845734"/>
            <a:ext cx="49987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/>
              <a:t>Trade-Offs We Managed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Cross-system ETL complexity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Schema harmonization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Data duplication across layers</a:t>
            </a:r>
          </a:p>
          <a:p>
            <a:pPr>
              <a:lnSpc>
                <a:spcPct val="100000"/>
              </a:lnSpc>
            </a:pPr>
            <a:r>
              <a:rPr lang="en-US" sz="1600" b="1" dirty="0"/>
              <a:t>Final Architectural Takeaway:</a:t>
            </a:r>
            <a:br>
              <a:rPr lang="en-US" sz="1400" dirty="0"/>
            </a:br>
            <a:r>
              <a:rPr lang="en-US" sz="1400" dirty="0"/>
              <a:t>Workload-specific databases outperform “one-size-fits-all” designs at enterprise scale.</a:t>
            </a:r>
          </a:p>
        </p:txBody>
      </p:sp>
    </p:spTree>
    <p:extLst>
      <p:ext uri="{BB962C8B-B14F-4D97-AF65-F5344CB8AC3E}">
        <p14:creationId xmlns:p14="http://schemas.microsoft.com/office/powerpoint/2010/main" val="26520120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106</TotalTime>
  <Words>757</Words>
  <Application>Microsoft Macintosh PowerPoint</Application>
  <PresentationFormat>Widescreen</PresentationFormat>
  <Paragraphs>199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Wingdings</vt:lpstr>
      <vt:lpstr>Retrospect</vt:lpstr>
      <vt:lpstr>Walmart Enterprise Data Architecture &amp; GreenCart Sustainability Analytics</vt:lpstr>
      <vt:lpstr>Data Needs and Workload Types</vt:lpstr>
      <vt:lpstr>OLTP System: MySQL</vt:lpstr>
      <vt:lpstr>NoSQL System: MongoDB</vt:lpstr>
      <vt:lpstr>Hive Big Data Warehouse</vt:lpstr>
      <vt:lpstr>GreenCart Advisor: Motivation &amp; Value</vt:lpstr>
      <vt:lpstr>GreenCart Dataset Design</vt:lpstr>
      <vt:lpstr>GreenCart Front-End &amp; Business Value</vt:lpstr>
      <vt:lpstr>GreenCart Data Warehouse Design</vt:lpstr>
      <vt:lpstr>GreenCart Data Warehouse Purpose</vt:lpstr>
      <vt:lpstr>ETL Pipeline &amp; Key Insights</vt:lpstr>
      <vt:lpstr>Strategic Impact, Challenges &amp;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Goyal, Smriti</dc:creator>
  <cp:lastModifiedBy>Akinkugbe, Siji</cp:lastModifiedBy>
  <cp:revision>3</cp:revision>
  <dcterms:created xsi:type="dcterms:W3CDTF">2025-12-06T21:05:24Z</dcterms:created>
  <dcterms:modified xsi:type="dcterms:W3CDTF">2025-12-08T03:48:54Z</dcterms:modified>
</cp:coreProperties>
</file>