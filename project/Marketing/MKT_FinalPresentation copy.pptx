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73" r:id="rId5"/>
    <p:sldId id="277" r:id="rId6"/>
    <p:sldId id="268" r:id="rId7"/>
    <p:sldId id="259" r:id="rId8"/>
    <p:sldId id="261" r:id="rId9"/>
    <p:sldId id="269" r:id="rId10"/>
    <p:sldId id="262" r:id="rId11"/>
    <p:sldId id="278" r:id="rId12"/>
    <p:sldId id="279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9BDC"/>
    <a:srgbClr val="6997DB"/>
    <a:srgbClr val="000000"/>
    <a:srgbClr val="43A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9B523-CBBA-27CA-D46D-9794CB62D8CA}" v="14" dt="2026-04-22T02:19:19.073"/>
    <p1510:client id="{860EF595-72B8-F13E-7722-B93F4CF5C0CF}" v="55" dt="2026-04-22T15:34:53.484"/>
    <p1510:client id="{A3415477-FACF-8F51-D8DB-B59CB3A65A78}" v="31" dt="2026-04-22T11:15:28.547"/>
    <p1510:client id="{CB34260F-A7B3-774F-96D3-57A9B4A5F427}" v="41" dt="2026-04-22T05:50:16.697"/>
    <p1510:client id="{EA160CD7-4C1D-DE8F-CDB9-92C926B6254A}" v="832" dt="2026-04-22T00:12:00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89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F758-ED48-929B-0823-72D27327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5C2FC-B2A7-2A94-A8BA-00C00EB27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EB3E1-02AE-8147-ABB3-A80042471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B20CE-C8C4-A347-1029-88645FEF2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4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D2CD-EF05-4586-AF68-431765BB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D8E62-E53B-7E83-5894-543586EB9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C891B-8E63-1016-C0EE-04876FEBC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2969A-F05C-E86B-F3B7-FAEABF19F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FDFC-912C-E9DB-C967-99A48B00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D2B99-3537-F69D-30E5-68270A77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653C-A441-7CB8-406C-CC644E1FD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44082-8554-4013-A6E8-5D02EE80A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79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C067-F3F2-8EF0-75E3-F4C80179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2114E-5181-A5CF-AEAE-0360B162D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C800F-23AA-BE2D-D909-27F9D9498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80545-70C8-D73B-4AFD-5FE10B39D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5CE8-F33E-48A0-DD1F-D25AE0DB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64183-3AC4-275E-747A-134F51367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0BC1C-FA82-0E62-7EDD-8CF999007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0878D-B7D5-B83F-4610-117E736F0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34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Telco Customer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Prediction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CLV Analysis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Final Project</a:t>
            </a: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Siji Akinkugbe, Kenny Roger Munyaneza, Timothy Mandingwa and Gad Rukundo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 — problem to action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93776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Data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churn challenge and introduce the IBM Watson dataset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46704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3346704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346704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statistics, visualisations, and cleaning steps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053328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6199632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199632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ML models with nested CV and SMOTE resampling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47472" y="3035808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3035808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493776" y="35570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Interpretation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93776" y="391363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feature importance, threshold tuning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663440" y="3035808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3035808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9744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4809744" y="35570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CLV &amp; Recommendations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809744" y="391363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customers, identify at-risk revenue, propose actions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CC9FF-734D-62A4-7D10-F86DAB53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E653E7A-377E-5246-2213-A4EBA438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03" y="3901207"/>
            <a:ext cx="533400" cy="5334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1E94532-432A-6131-F7A7-11586741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203" y="3901207"/>
            <a:ext cx="533400" cy="53340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A02EEBFA-6222-95AE-5729-A3C803B38229}"/>
              </a:ext>
            </a:extLst>
          </p:cNvPr>
          <p:cNvSpPr/>
          <p:nvPr/>
        </p:nvSpPr>
        <p:spPr>
          <a:xfrm>
            <a:off x="310978" y="1334738"/>
            <a:ext cx="4695567" cy="1178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Telecom firms lose recurring revenue when customers leave and replacing them is often more expensive than retaining them. The smarter question is not only </a:t>
            </a:r>
            <a:r>
              <a:rPr lang="en-US" sz="1350" i="1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who will churn</a:t>
            </a:r>
            <a:r>
              <a:rPr lang="en-US" sz="13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but </a:t>
            </a:r>
            <a:r>
              <a:rPr lang="en-US" sz="1350" i="1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churning customers matter most</a:t>
            </a:r>
            <a:r>
              <a:rPr lang="en-US" sz="13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B7CD86-88A3-AA54-2587-FFFD62EBED57}"/>
              </a:ext>
            </a:extLst>
          </p:cNvPr>
          <p:cNvSpPr txBox="1"/>
          <p:nvPr/>
        </p:nvSpPr>
        <p:spPr>
          <a:xfrm>
            <a:off x="313867" y="562064"/>
            <a:ext cx="469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Customer churn is a revenue problem, not just a prediction task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1D6355-9B30-CBF6-7C0C-12BF8C9E2198}"/>
              </a:ext>
            </a:extLst>
          </p:cNvPr>
          <p:cNvSpPr/>
          <p:nvPr/>
        </p:nvSpPr>
        <p:spPr>
          <a:xfrm>
            <a:off x="5200136" y="561203"/>
            <a:ext cx="3856336" cy="42527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33C06B2-2BCC-994B-0B9C-28E754A8995F}"/>
              </a:ext>
            </a:extLst>
          </p:cNvPr>
          <p:cNvSpPr/>
          <p:nvPr/>
        </p:nvSpPr>
        <p:spPr>
          <a:xfrm>
            <a:off x="6444306" y="883922"/>
            <a:ext cx="1406909" cy="25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1200" b="1">
                <a:solidFill>
                  <a:srgbClr val="2563EB"/>
                </a:solidFill>
                <a:latin typeface="ui-sans-serif"/>
                <a:ea typeface="ui-sans-serif" pitchFamily="34" charset="-122"/>
                <a:cs typeface="ui-sans-serif" pitchFamily="34" charset="-120"/>
              </a:rPr>
              <a:t>Business objective</a:t>
            </a:r>
            <a:endParaRPr lang="en-US" sz="1200">
              <a:latin typeface="ui-sans-serif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A93D7878-CDEA-4DD2-40FE-37DBEF352AE5}"/>
              </a:ext>
            </a:extLst>
          </p:cNvPr>
          <p:cNvSpPr/>
          <p:nvPr/>
        </p:nvSpPr>
        <p:spPr>
          <a:xfrm>
            <a:off x="6305325" y="2380039"/>
            <a:ext cx="260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endParaRPr lang="en-US" sz="2400" b="1">
              <a:solidFill>
                <a:srgbClr val="2563EB"/>
              </a:solidFill>
              <a:latin typeface="ui-sans-serif"/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F3102CC9-E8FA-103D-3350-C89A6F01DF21}"/>
              </a:ext>
            </a:extLst>
          </p:cNvPr>
          <p:cNvSpPr/>
          <p:nvPr/>
        </p:nvSpPr>
        <p:spPr>
          <a:xfrm>
            <a:off x="2796538" y="2569287"/>
            <a:ext cx="2207273" cy="2246134"/>
          </a:xfrm>
          <a:prstGeom prst="roundRect">
            <a:avLst>
              <a:gd name="adj" fmla="val 201333"/>
            </a:avLst>
          </a:prstGeom>
          <a:solidFill>
            <a:srgbClr val="FFFFFF"/>
          </a:solidFill>
          <a:ln w="9525">
            <a:solidFill>
              <a:srgbClr val="10233F"/>
            </a:solidFill>
          </a:ln>
          <a:effectLst>
            <a:outerShdw blurRad="381000" dist="171450" dir="5400000" algn="bl" rotWithShape="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A8B0C724-3266-E306-7A0B-20F0EA7ECAC5}"/>
              </a:ext>
            </a:extLst>
          </p:cNvPr>
          <p:cNvSpPr/>
          <p:nvPr/>
        </p:nvSpPr>
        <p:spPr>
          <a:xfrm>
            <a:off x="309741" y="2553841"/>
            <a:ext cx="2207273" cy="2246134"/>
          </a:xfrm>
          <a:prstGeom prst="roundRect">
            <a:avLst>
              <a:gd name="adj" fmla="val 201333"/>
            </a:avLst>
          </a:prstGeom>
          <a:solidFill>
            <a:srgbClr val="FFFFFF"/>
          </a:solidFill>
          <a:ln w="9525">
            <a:solidFill>
              <a:srgbClr val="10233F"/>
            </a:solidFill>
          </a:ln>
          <a:effectLst>
            <a:outerShdw blurRad="381000" dist="171450" dir="5400000" algn="bl" rotWithShape="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5F6BF181-547C-0F67-0925-3D97DED2E2DD}"/>
              </a:ext>
            </a:extLst>
          </p:cNvPr>
          <p:cNvSpPr/>
          <p:nvPr/>
        </p:nvSpPr>
        <p:spPr>
          <a:xfrm>
            <a:off x="701503" y="3117583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Churn hurts revenue</a:t>
            </a:r>
            <a:endParaRPr lang="en-US" sz="13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DEEBD27-F78B-DDC1-C1D7-A9823D894472}"/>
              </a:ext>
            </a:extLst>
          </p:cNvPr>
          <p:cNvSpPr/>
          <p:nvPr/>
        </p:nvSpPr>
        <p:spPr>
          <a:xfrm>
            <a:off x="701503" y="3696291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 customers reduce recurring subscription income and future upsell opportunities.</a:t>
            </a:r>
            <a:endParaRPr lang="en-US" sz="105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675163A-90FE-0A18-E213-6F9DB72C1B18}"/>
              </a:ext>
            </a:extLst>
          </p:cNvPr>
          <p:cNvSpPr/>
          <p:nvPr/>
        </p:nvSpPr>
        <p:spPr>
          <a:xfrm>
            <a:off x="3223311" y="3158772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Retention needs focus</a:t>
            </a:r>
            <a:endParaRPr lang="en-US" sz="135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9331DAC-6A05-ED4D-76FB-2F95C5F59274}"/>
              </a:ext>
            </a:extLst>
          </p:cNvPr>
          <p:cNvSpPr/>
          <p:nvPr/>
        </p:nvSpPr>
        <p:spPr>
          <a:xfrm>
            <a:off x="3223311" y="3773521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every customer creates the same business impact, so retention must be prioritized.</a:t>
            </a:r>
            <a:endParaRPr lang="en-US" sz="105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EDAE795C-E547-08C1-C29C-15496C06DD45}"/>
              </a:ext>
            </a:extLst>
          </p:cNvPr>
          <p:cNvSpPr/>
          <p:nvPr/>
        </p:nvSpPr>
        <p:spPr>
          <a:xfrm>
            <a:off x="307890" y="2059"/>
            <a:ext cx="7472337" cy="56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</a:rPr>
              <a:t>Problem Statement</a:t>
            </a:r>
            <a:endParaRPr lang="en-US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D4EC7141-BD32-6600-F1EC-46DD23D5486F}"/>
              </a:ext>
            </a:extLst>
          </p:cNvPr>
          <p:cNvSpPr/>
          <p:nvPr/>
        </p:nvSpPr>
        <p:spPr>
          <a:xfrm>
            <a:off x="94117" y="32951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Picture 65" descr="A black circle with a black background&#10;&#10;AI-generated content may be incorrect.">
            <a:extLst>
              <a:ext uri="{FF2B5EF4-FFF2-40B4-BE49-F238E27FC236}">
                <a16:creationId xmlns:a16="http://schemas.microsoft.com/office/drawing/2014/main" id="{89CDC69B-3A6C-4102-6712-A44F53089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95" y="2616029"/>
            <a:ext cx="499162" cy="477795"/>
          </a:xfrm>
          <a:prstGeom prst="rect">
            <a:avLst/>
          </a:prstGeom>
        </p:spPr>
      </p:pic>
      <p:pic>
        <p:nvPicPr>
          <p:cNvPr id="67" name="Picture 66" descr="A black circle with a black background&#10;&#10;AI-generated content may be incorrect.">
            <a:extLst>
              <a:ext uri="{FF2B5EF4-FFF2-40B4-BE49-F238E27FC236}">
                <a16:creationId xmlns:a16="http://schemas.microsoft.com/office/drawing/2014/main" id="{97B88418-BF20-AD8E-D4A5-866BB9F69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97" y="2610880"/>
            <a:ext cx="499162" cy="477795"/>
          </a:xfrm>
          <a:prstGeom prst="rect">
            <a:avLst/>
          </a:prstGeom>
        </p:spPr>
      </p:pic>
      <p:pic>
        <p:nvPicPr>
          <p:cNvPr id="68" name="Picture 67" descr="A blue and pink dart board&#10;&#10;AI-generated content may be incorrect.">
            <a:extLst>
              <a:ext uri="{FF2B5EF4-FFF2-40B4-BE49-F238E27FC236}">
                <a16:creationId xmlns:a16="http://schemas.microsoft.com/office/drawing/2014/main" id="{27A029FE-58CD-F844-5E0D-F2EB0AF69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097" y="2671762"/>
            <a:ext cx="425794" cy="371475"/>
          </a:xfrm>
          <a:prstGeom prst="rect">
            <a:avLst/>
          </a:prstGeom>
        </p:spPr>
      </p:pic>
      <p:pic>
        <p:nvPicPr>
          <p:cNvPr id="69" name="Picture 68" descr="A graph on a white square&#10;&#10;AI-generated content may be incorrect.">
            <a:extLst>
              <a:ext uri="{FF2B5EF4-FFF2-40B4-BE49-F238E27FC236}">
                <a16:creationId xmlns:a16="http://schemas.microsoft.com/office/drawing/2014/main" id="{D58CA396-1575-AB0F-B003-75612E492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020" y="2646405"/>
            <a:ext cx="514867" cy="411894"/>
          </a:xfrm>
          <a:prstGeom prst="rect">
            <a:avLst/>
          </a:prstGeom>
        </p:spPr>
      </p:pic>
      <p:sp>
        <p:nvSpPr>
          <p:cNvPr id="73" name="Text 3">
            <a:extLst>
              <a:ext uri="{FF2B5EF4-FFF2-40B4-BE49-F238E27FC236}">
                <a16:creationId xmlns:a16="http://schemas.microsoft.com/office/drawing/2014/main" id="{4AD848C4-99D8-43B8-F1B3-4B94CC01963A}"/>
              </a:ext>
            </a:extLst>
          </p:cNvPr>
          <p:cNvSpPr/>
          <p:nvPr/>
        </p:nvSpPr>
        <p:spPr>
          <a:xfrm>
            <a:off x="8053104" y="133700"/>
            <a:ext cx="1005840" cy="292608"/>
          </a:xfrm>
          <a:prstGeom prst="rect">
            <a:avLst/>
          </a:prstGeom>
          <a:solidFill>
            <a:srgbClr val="43AB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Problem</a:t>
            </a:r>
            <a:endParaRPr lang="en-US" sz="90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5C5D212-2A95-59D0-AE81-F40D138E5154}"/>
              </a:ext>
            </a:extLst>
          </p:cNvPr>
          <p:cNvSpPr/>
          <p:nvPr/>
        </p:nvSpPr>
        <p:spPr>
          <a:xfrm>
            <a:off x="5285366" y="1298638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DDB3B3A6-8F2B-8822-4D3B-ED5EE678505D}"/>
              </a:ext>
            </a:extLst>
          </p:cNvPr>
          <p:cNvSpPr/>
          <p:nvPr/>
        </p:nvSpPr>
        <p:spPr>
          <a:xfrm>
            <a:off x="5239974" y="1296739"/>
            <a:ext cx="71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⚠️</a:t>
            </a:r>
            <a:endParaRPr lang="en-US" sz="225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30FC1717-60B2-6D4D-806F-7E005B0BAA28}"/>
              </a:ext>
            </a:extLst>
          </p:cNvPr>
          <p:cNvSpPr/>
          <p:nvPr/>
        </p:nvSpPr>
        <p:spPr>
          <a:xfrm>
            <a:off x="5756703" y="1360583"/>
            <a:ext cx="1787642" cy="21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churn risk</a:t>
            </a:r>
            <a:endParaRPr lang="en-US" sz="1200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F3943028-DFEE-1863-9732-2C8CB7ACE23D}"/>
              </a:ext>
            </a:extLst>
          </p:cNvPr>
          <p:cNvSpPr/>
          <p:nvPr/>
        </p:nvSpPr>
        <p:spPr>
          <a:xfrm>
            <a:off x="5777297" y="1690095"/>
            <a:ext cx="2194386" cy="27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customers likely to leave</a:t>
            </a:r>
            <a:endParaRPr lang="en-US" sz="1056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A496229-C977-ABD6-20D7-8C8318DB2C46}"/>
              </a:ext>
            </a:extLst>
          </p:cNvPr>
          <p:cNvSpPr/>
          <p:nvPr/>
        </p:nvSpPr>
        <p:spPr>
          <a:xfrm>
            <a:off x="5275069" y="2539462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350F867C-EFF8-9783-75FF-F23D74859229}"/>
              </a:ext>
            </a:extLst>
          </p:cNvPr>
          <p:cNvSpPr/>
          <p:nvPr/>
        </p:nvSpPr>
        <p:spPr>
          <a:xfrm>
            <a:off x="5180165" y="2566971"/>
            <a:ext cx="78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💵</a:t>
            </a:r>
            <a:endParaRPr lang="en-US" sz="2250"/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E9A3CB4C-851A-9A86-4700-EF17E0F3FC7C}"/>
              </a:ext>
            </a:extLst>
          </p:cNvPr>
          <p:cNvSpPr/>
          <p:nvPr/>
        </p:nvSpPr>
        <p:spPr>
          <a:xfrm>
            <a:off x="6042500" y="2610219"/>
            <a:ext cx="1378856" cy="29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CLV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E038782B-F18F-6169-A266-07DD8D59DBC9}"/>
              </a:ext>
            </a:extLst>
          </p:cNvPr>
          <p:cNvSpPr/>
          <p:nvPr/>
        </p:nvSpPr>
        <p:spPr>
          <a:xfrm>
            <a:off x="5954974" y="2927375"/>
            <a:ext cx="1780450" cy="30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 revenue importance</a:t>
            </a:r>
            <a:endParaRPr lang="en-US" sz="1056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46AE7B5-C579-A45C-BA68-EC5CC72833D5}"/>
              </a:ext>
            </a:extLst>
          </p:cNvPr>
          <p:cNvSpPr/>
          <p:nvPr/>
        </p:nvSpPr>
        <p:spPr>
          <a:xfrm>
            <a:off x="5275069" y="3749395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 23">
            <a:extLst>
              <a:ext uri="{FF2B5EF4-FFF2-40B4-BE49-F238E27FC236}">
                <a16:creationId xmlns:a16="http://schemas.microsoft.com/office/drawing/2014/main" id="{BC542C1E-0A1A-E755-BD86-E3F5F760C8E8}"/>
              </a:ext>
            </a:extLst>
          </p:cNvPr>
          <p:cNvSpPr/>
          <p:nvPr/>
        </p:nvSpPr>
        <p:spPr>
          <a:xfrm>
            <a:off x="5170224" y="3902985"/>
            <a:ext cx="8041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</a:t>
            </a:r>
            <a:endParaRPr lang="en-US" sz="225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5D18D8AC-81D1-144B-0D70-F42892281FBD}"/>
              </a:ext>
            </a:extLst>
          </p:cNvPr>
          <p:cNvSpPr/>
          <p:nvPr/>
        </p:nvSpPr>
        <p:spPr>
          <a:xfrm>
            <a:off x="6043080" y="3812368"/>
            <a:ext cx="1735694" cy="26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 action</a:t>
            </a:r>
            <a:endParaRPr lang="en-US" sz="1200"/>
          </a:p>
        </p:txBody>
      </p:sp>
      <p:sp>
        <p:nvSpPr>
          <p:cNvPr id="85" name="Text 25">
            <a:extLst>
              <a:ext uri="{FF2B5EF4-FFF2-40B4-BE49-F238E27FC236}">
                <a16:creationId xmlns:a16="http://schemas.microsoft.com/office/drawing/2014/main" id="{EA3726CD-0061-4AAC-C033-14ABCEA41B06}"/>
              </a:ext>
            </a:extLst>
          </p:cNvPr>
          <p:cNvSpPr/>
          <p:nvPr/>
        </p:nvSpPr>
        <p:spPr>
          <a:xfrm>
            <a:off x="6043080" y="4108931"/>
            <a:ext cx="2054911" cy="28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 high-risk, high-value customers</a:t>
            </a:r>
            <a:endParaRPr lang="en-US" sz="1056"/>
          </a:p>
        </p:txBody>
      </p:sp>
    </p:spTree>
    <p:extLst>
      <p:ext uri="{BB962C8B-B14F-4D97-AF65-F5344CB8AC3E}">
        <p14:creationId xmlns:p14="http://schemas.microsoft.com/office/powerpoint/2010/main" val="295825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59A6B-79C4-6EA5-D1A7-5476C377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C7C96A-BD3B-620F-43FB-66E8A1EE95A7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F35C2-7FD2-B6E4-9EAD-64E689113AE1}"/>
              </a:ext>
            </a:extLst>
          </p:cNvPr>
          <p:cNvSpPr/>
          <p:nvPr/>
        </p:nvSpPr>
        <p:spPr>
          <a:xfrm>
            <a:off x="397764" y="425466"/>
            <a:ext cx="7498080" cy="44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  <a:ea typeface="+mn-lt"/>
                <a:cs typeface="+mn-lt"/>
              </a:rPr>
              <a:t>Why this is a marketing analytics problem</a:t>
            </a:r>
          </a:p>
          <a:p>
            <a:pPr marL="0" indent="0">
              <a:buNone/>
            </a:pPr>
            <a:endParaRPr lang="en-US" sz="2800" b="1">
              <a:solidFill>
                <a:srgbClr val="1E2761"/>
              </a:solidFill>
              <a:latin typeface="Trebuchet M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4C5F91-CF6C-EB95-5169-A4173397F7F6}"/>
              </a:ext>
            </a:extLst>
          </p:cNvPr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6D99E7-E465-7A44-9D5F-E8319B085B21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319AD9-CD8B-F1CC-6CD8-5C63313F360B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Problem</a:t>
            </a:r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58D23F-F0E4-7D88-8D0F-6D7F963DF1C7}"/>
              </a:ext>
            </a:extLst>
          </p:cNvPr>
          <p:cNvSpPr/>
          <p:nvPr/>
        </p:nvSpPr>
        <p:spPr>
          <a:xfrm>
            <a:off x="426903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8692E-D9A3-C3C7-16F2-349E58A894EC}"/>
              </a:ext>
            </a:extLst>
          </p:cNvPr>
          <p:cNvSpPr/>
          <p:nvPr/>
        </p:nvSpPr>
        <p:spPr>
          <a:xfrm>
            <a:off x="6517754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1E6C6F-E7F0-115D-E400-6E737964637A}"/>
              </a:ext>
            </a:extLst>
          </p:cNvPr>
          <p:cNvSpPr/>
          <p:nvPr/>
        </p:nvSpPr>
        <p:spPr>
          <a:xfrm>
            <a:off x="3418268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7DD5119-5189-0DA5-4131-0249F095687C}"/>
              </a:ext>
            </a:extLst>
          </p:cNvPr>
          <p:cNvSpPr/>
          <p:nvPr/>
        </p:nvSpPr>
        <p:spPr>
          <a:xfrm>
            <a:off x="518212" y="1441626"/>
            <a:ext cx="1664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protection</a:t>
            </a:r>
            <a:endParaRPr lang="en-US"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0D4ABD0-34DF-138D-7C7E-E2F44374CB5D}"/>
              </a:ext>
            </a:extLst>
          </p:cNvPr>
          <p:cNvSpPr/>
          <p:nvPr/>
        </p:nvSpPr>
        <p:spPr>
          <a:xfrm>
            <a:off x="518212" y="1813358"/>
            <a:ext cx="16648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Churn directly threatens recurring revenue and customer lifetime value.</a:t>
            </a:r>
            <a:endParaRPr lang="en-US" sz="105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818EF97-C7E3-ECAA-A75C-C64A52D329AC}"/>
              </a:ext>
            </a:extLst>
          </p:cNvPr>
          <p:cNvSpPr/>
          <p:nvPr/>
        </p:nvSpPr>
        <p:spPr>
          <a:xfrm>
            <a:off x="3494939" y="1395288"/>
            <a:ext cx="15205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offers</a:t>
            </a:r>
            <a:endParaRPr lang="en-US" sz="12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416EF11F-5796-ABA3-03B9-FDE68775ACAE}"/>
              </a:ext>
            </a:extLst>
          </p:cNvPr>
          <p:cNvSpPr/>
          <p:nvPr/>
        </p:nvSpPr>
        <p:spPr>
          <a:xfrm>
            <a:off x="3494939" y="1813357"/>
            <a:ext cx="1680298" cy="75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Marketing teams can personalize retention campaigns instead of using one-size-fits-all promotions.</a:t>
            </a:r>
            <a:endParaRPr lang="en-US" sz="105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B847009-7CEF-72D8-3DFE-C152111FE2F3}"/>
              </a:ext>
            </a:extLst>
          </p:cNvPr>
          <p:cNvSpPr/>
          <p:nvPr/>
        </p:nvSpPr>
        <p:spPr>
          <a:xfrm>
            <a:off x="6615829" y="1395288"/>
            <a:ext cx="15412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Budget optimization</a:t>
            </a:r>
            <a:endParaRPr lang="en-US" sz="120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046B5A2E-E0AE-D000-B35C-0B0575C0D4EC}"/>
              </a:ext>
            </a:extLst>
          </p:cNvPr>
          <p:cNvSpPr/>
          <p:nvPr/>
        </p:nvSpPr>
        <p:spPr>
          <a:xfrm>
            <a:off x="6615829" y="1813358"/>
            <a:ext cx="16135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Retention spend can be directed where expected impact is highest.</a:t>
            </a:r>
            <a:endParaRPr lang="en-US" sz="105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D9A788-51BD-E3E6-C9A5-D5E696C29362}"/>
              </a:ext>
            </a:extLst>
          </p:cNvPr>
          <p:cNvSpPr/>
          <p:nvPr/>
        </p:nvSpPr>
        <p:spPr>
          <a:xfrm>
            <a:off x="2940140" y="2967218"/>
            <a:ext cx="3233846" cy="20359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45093F8A-B22A-A75D-28FF-A614ACCF21FC}"/>
              </a:ext>
            </a:extLst>
          </p:cNvPr>
          <p:cNvSpPr/>
          <p:nvPr/>
        </p:nvSpPr>
        <p:spPr>
          <a:xfrm>
            <a:off x="3153626" y="3036024"/>
            <a:ext cx="2875521" cy="690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8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Who should we target first to maximize retention impact?</a:t>
            </a:r>
            <a:endParaRPr lang="en-US" sz="1800"/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B1662B65-95F3-97D1-982D-D4BD9B6FBDD6}"/>
              </a:ext>
            </a:extLst>
          </p:cNvPr>
          <p:cNvSpPr/>
          <p:nvPr/>
        </p:nvSpPr>
        <p:spPr>
          <a:xfrm>
            <a:off x="3152411" y="3985792"/>
            <a:ext cx="2875521" cy="50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ideal target is not simply a likely churner, but a customer with meaningful revenue value and a realistic chance of being retained.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3694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A34CD-970E-4243-01B4-E50D7ABB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D2098C-4260-7E17-448C-DB48BFA3590C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3AECAB-7428-DFD8-BCBF-7E717095DE26}"/>
              </a:ext>
            </a:extLst>
          </p:cNvPr>
          <p:cNvSpPr/>
          <p:nvPr/>
        </p:nvSpPr>
        <p:spPr>
          <a:xfrm>
            <a:off x="552850" y="111070"/>
            <a:ext cx="5515568" cy="72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  <a:ea typeface="+mn-lt"/>
                <a:cs typeface="+mn-lt"/>
              </a:rPr>
              <a:t>IBM Telco Customer Churn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A0D7A0-9631-4DD8-8A2B-0B181A1D573C}"/>
              </a:ext>
            </a:extLst>
          </p:cNvPr>
          <p:cNvSpPr/>
          <p:nvPr/>
        </p:nvSpPr>
        <p:spPr>
          <a:xfrm>
            <a:off x="8132641" y="121238"/>
            <a:ext cx="903365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FA67C-BF82-A04E-6750-F1258CA3DAA3}"/>
              </a:ext>
            </a:extLst>
          </p:cNvPr>
          <p:cNvSpPr/>
          <p:nvPr/>
        </p:nvSpPr>
        <p:spPr>
          <a:xfrm>
            <a:off x="8227235" y="121238"/>
            <a:ext cx="714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Data</a:t>
            </a:r>
            <a:endParaRPr lang="en-US" sz="9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C459D8-290E-4FB3-5047-F7B5FD8B89D1}"/>
              </a:ext>
            </a:extLst>
          </p:cNvPr>
          <p:cNvSpPr/>
          <p:nvPr/>
        </p:nvSpPr>
        <p:spPr>
          <a:xfrm>
            <a:off x="5681340" y="252789"/>
            <a:ext cx="2507334" cy="4270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  <a:ea typeface="Calibri"/>
                <a:cs typeface="Calibri"/>
              </a:rPr>
              <a:t>Demographics</a:t>
            </a:r>
            <a:endParaRPr lang="en-US" sz="1400" b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Gender, senior citizen, partner, dependents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 </a:t>
            </a: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  <a:ea typeface="Calibri"/>
                <a:cs typeface="Calibri"/>
              </a:rPr>
              <a:t>Service Usage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Phone, internet, streaming, support services</a:t>
            </a:r>
          </a:p>
          <a:p>
            <a:pPr marL="742950" lvl="1" indent="-285750">
              <a:buFont typeface="Courier New"/>
              <a:buChar char="o"/>
            </a:pP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  <a:ea typeface="Calibri"/>
                <a:cs typeface="Calibri"/>
              </a:rPr>
              <a:t>Contract &amp; Tenure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Contract type, monthly tenure, payment method</a:t>
            </a:r>
          </a:p>
          <a:p>
            <a:pPr marL="742950" lvl="1" indent="-285750">
              <a:buFont typeface="Courier New"/>
              <a:buChar char="o"/>
            </a:pPr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  <a:ea typeface="Calibri"/>
                <a:cs typeface="Calibri"/>
              </a:rPr>
              <a:t>Financial Data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Monthly charges and total charges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D035F3-5D3F-94DB-394B-0ABA110CF93D}"/>
              </a:ext>
            </a:extLst>
          </p:cNvPr>
          <p:cNvSpPr/>
          <p:nvPr/>
        </p:nvSpPr>
        <p:spPr>
          <a:xfrm>
            <a:off x="5829325" y="364168"/>
            <a:ext cx="2043684" cy="2162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ea typeface="Calibri"/>
                <a:cs typeface="Calibri"/>
              </a:rPr>
              <a:t>Data Categories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059B96-FD55-40A9-EAFC-B264154053DA}"/>
              </a:ext>
            </a:extLst>
          </p:cNvPr>
          <p:cNvSpPr/>
          <p:nvPr/>
        </p:nvSpPr>
        <p:spPr>
          <a:xfrm>
            <a:off x="385319" y="1065122"/>
            <a:ext cx="5073323" cy="2280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C544C323-9E7D-912E-7D70-F2B0034BCC39}"/>
              </a:ext>
            </a:extLst>
          </p:cNvPr>
          <p:cNvSpPr/>
          <p:nvPr/>
        </p:nvSpPr>
        <p:spPr>
          <a:xfrm>
            <a:off x="579603" y="1511119"/>
            <a:ext cx="4682759" cy="165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dataset contains customer demographics, service subscriptions, account information, and billing behavior. It provides a practical foundation for predicting churn and linking that risk to customer value.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1302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4DBEE-1728-B277-0D0C-874BF615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864D76-491E-5473-5846-699C7D39CBA0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A5B354-6781-89F4-E888-0C551E06851D}"/>
              </a:ext>
            </a:extLst>
          </p:cNvPr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8BC07D-C1DC-AA40-733F-FDCD8B65A0FE}"/>
              </a:ext>
            </a:extLst>
          </p:cNvPr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CC164C-0619-3691-E092-607D055F8B87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2E3D4F-82A8-C6A3-C382-B26A18728F25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EDA</a:t>
            </a:r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E92C6-0C5A-02CD-8966-680227CB5BF8}"/>
              </a:ext>
            </a:extLst>
          </p:cNvPr>
          <p:cNvSpPr txBox="1"/>
          <p:nvPr/>
        </p:nvSpPr>
        <p:spPr>
          <a:xfrm>
            <a:off x="515377" y="822113"/>
            <a:ext cx="7255381" cy="43242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en-GB" sz="1100">
                <a:ea typeface="+mn-lt"/>
                <a:cs typeface="+mn-lt"/>
              </a:rPr>
              <a:t>Average Monthly Spend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</a:t>
            </a:r>
            <a:endParaRPr lang="en-US" sz="110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>
                <a:ea typeface="+mn-lt"/>
                <a:cs typeface="+mn-lt"/>
              </a:rPr>
              <a:t>Adjusted monthly spending metric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Handles new customers with zero tenure</a:t>
            </a:r>
            <a:br>
              <a:rPr lang="en-US" sz="1100"/>
            </a:br>
            <a:endParaRPr lang="en-US" sz="110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>
                <a:ea typeface="+mn-lt"/>
                <a:cs typeface="+mn-lt"/>
              </a:rPr>
              <a:t>Service Adoption Count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</a:t>
            </a:r>
            <a:endParaRPr lang="en-US" sz="110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>
                <a:ea typeface="+mn-lt"/>
                <a:cs typeface="+mn-lt"/>
              </a:rPr>
              <a:t>Total number of services a customer uses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Measures customer engagement and stickiness</a:t>
            </a:r>
            <a:br>
              <a:rPr lang="en-US" sz="1100"/>
            </a:br>
            <a:endParaRPr lang="en-US" sz="110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>
                <a:ea typeface="+mn-lt"/>
                <a:cs typeface="+mn-lt"/>
              </a:rPr>
              <a:t>Tenure Group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</a:t>
            </a:r>
            <a:endParaRPr lang="en-US" sz="110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>
                <a:ea typeface="+mn-lt"/>
                <a:cs typeface="+mn-lt"/>
              </a:rPr>
              <a:t>Categorizes customers by how long they’ve stayed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Captures customer lifecycle stages</a:t>
            </a:r>
            <a:br>
              <a:rPr lang="en-US" sz="1100"/>
            </a:br>
            <a:endParaRPr lang="en-US" sz="110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>
                <a:ea typeface="+mn-lt"/>
                <a:cs typeface="+mn-lt"/>
              </a:rPr>
              <a:t>Charge per Service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</a:t>
            </a:r>
            <a:endParaRPr lang="en-US" sz="110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>
                <a:ea typeface="+mn-lt"/>
                <a:cs typeface="+mn-lt"/>
              </a:rPr>
              <a:t>Monthly charges divided by number of services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Reflects value for money and pricing fairness</a:t>
            </a:r>
            <a:br>
              <a:rPr lang="en-US" sz="1100"/>
            </a:br>
            <a:endParaRPr lang="en-US" sz="110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>
                <a:ea typeface="+mn-lt"/>
                <a:cs typeface="+mn-lt"/>
              </a:rPr>
              <a:t>Tenure per Service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</a:t>
            </a:r>
          </a:p>
          <a:p>
            <a:pPr marL="685800" lvl="1" indent="-228600">
              <a:buFont typeface="Courier New"/>
              <a:buChar char="o"/>
            </a:pPr>
            <a:r>
              <a:rPr lang="en-GB" sz="1100">
                <a:ea typeface="+mn-lt"/>
                <a:cs typeface="+mn-lt"/>
              </a:rPr>
              <a:t>Tenure adjusted by number of services used</a:t>
            </a:r>
            <a:br>
              <a:rPr lang="en-GB" sz="1100">
                <a:ea typeface="+mn-lt"/>
                <a:cs typeface="+mn-lt"/>
              </a:rPr>
            </a:br>
            <a:r>
              <a:rPr lang="en-GB" sz="1100">
                <a:ea typeface="+mn-lt"/>
                <a:cs typeface="+mn-lt"/>
              </a:rPr>
              <a:t> Measures loyalty relative to engagement</a:t>
            </a:r>
            <a:endParaRPr lang="en-GB" sz="1100">
              <a:ea typeface="Calibri"/>
              <a:cs typeface="Calibri"/>
            </a:endParaRPr>
          </a:p>
          <a:p>
            <a:pPr marL="228600" indent="-228600" algn="l">
              <a:buAutoNum type="arabicPeriod"/>
            </a:pPr>
            <a:endParaRPr lang="en-GB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10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Data Exploration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distribution: full dataset vs. filtered to month-to-month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EDA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320040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039112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9112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039112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(Full)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758184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3,875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758184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5477256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42.7%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5477256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(M-t-M)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196328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6328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196328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20040" y="2377440"/>
            <a:ext cx="40690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4069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377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Filtering — Full Dataset (7,043)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475488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1993392" y="2889504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93392" y="2889504"/>
            <a:ext cx="1545793" cy="210312"/>
          </a:xfrm>
          <a:prstGeom prst="rect">
            <a:avLst/>
          </a:prstGeom>
          <a:solidFill>
            <a:srgbClr val="4CB8C4"/>
          </a:solidFill>
          <a:ln w="12700">
            <a:solidFill>
              <a:srgbClr val="4C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28346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C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75488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1993392" y="3456432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993392" y="3456432"/>
            <a:ext cx="557327" cy="210312"/>
          </a:xfrm>
          <a:prstGeom prst="rect">
            <a:avLst/>
          </a:prstGeom>
          <a:solidFill>
            <a:srgbClr val="E05D4B"/>
          </a:solidFill>
          <a:ln w="12700">
            <a:solidFill>
              <a:srgbClr val="E05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0" y="3401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75488" y="4114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Imbalanced: 73.5% retained vs 26.5% churned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475488" y="4334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Addressed via class_weight &amp; scale_pos_weight tuning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681728" y="2377440"/>
            <a:ext cx="40965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81728" y="2377440"/>
            <a:ext cx="409651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81728" y="237744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Filtering — Month-to-Month Only (3,875)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4828032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6345936" y="2889504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45936" y="2889504"/>
            <a:ext cx="1205088" cy="210312"/>
          </a:xfrm>
          <a:prstGeom prst="rect">
            <a:avLst/>
          </a:prstGeom>
          <a:solidFill>
            <a:srgbClr val="4CB8C4"/>
          </a:solidFill>
          <a:ln w="12700">
            <a:solidFill>
              <a:srgbClr val="4C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67344" y="28346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C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4828032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/>
          </a:p>
        </p:txBody>
      </p:sp>
      <p:sp>
        <p:nvSpPr>
          <p:cNvPr id="43" name="Shape 41"/>
          <p:cNvSpPr/>
          <p:nvPr/>
        </p:nvSpPr>
        <p:spPr>
          <a:xfrm>
            <a:off x="6345936" y="3456432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936" y="3456432"/>
            <a:ext cx="898032" cy="210312"/>
          </a:xfrm>
          <a:prstGeom prst="rect">
            <a:avLst/>
          </a:prstGeom>
          <a:solidFill>
            <a:srgbClr val="E05D4B"/>
          </a:solidFill>
          <a:ln w="12700">
            <a:solidFill>
              <a:srgbClr val="E05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67344" y="3401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4828032" y="4114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jumps to 42.7% — model focused on highest-risk segment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4828032" y="4334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Imbalance reduced but present; class weighting retained</a:t>
            </a:r>
            <a:endParaRPr lang="en-US" sz="95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Converted TotalCharges from string→float (11 blank rows dropped); mapped 'No internet/phone service'→'No' for 7 add-on columns; encoded Churn Yes/No→1/0.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Analysis: Model Design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Analysis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38328" y="92125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97612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models? 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21208" y="122301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binary classification problem with mixed feature types and a moderately imbalanced target (26.5% positive). The suite spans interpretable baselines (Logistic Regression, Decision Tree), a distance-based learner (KNN), and ensemble methods (Random Forest, XGBoost) to benchmark complexity vs. performance trade-offs.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11480" y="3257550"/>
            <a:ext cx="1417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Interpretable; odds ratios map directly to churn drivers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29768" y="409194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ElasticNet, saga solver; scaled features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2039112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77440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130552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130552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interpretable; rules extractable for CRM automation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2130552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Depth-tuned; class_weight balanced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3758184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96512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96512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3849624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849624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Non-parametric; captures local churn clusters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3849624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distance; feature scaling required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5477256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15584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15584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568696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568696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correlated features; stable importance rankings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5568696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trees; OOB validation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7196328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34656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34656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7287768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7287768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for tabular data; handles feature interactions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7287768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+ scale_pos_weight tuned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66CFD-C735-42EB-6F35-382BBFFC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B7B6FC-EA82-F958-0E2B-BF0E2243EABD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16B141-7E7C-21F6-02CB-A16B57787684}"/>
              </a:ext>
            </a:extLst>
          </p:cNvPr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Analysis: Robustness Check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5AAB7A-D48B-4D49-CB97-A1E5EFAA7BEF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B2892-6E41-07F6-9070-933A3DE57D65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Analysis</a:t>
            </a:r>
            <a:endParaRPr lang="en-US" sz="9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5F73EB-28AC-FF30-9480-AF5E426220B8}"/>
              </a:ext>
            </a:extLst>
          </p:cNvPr>
          <p:cNvSpPr/>
          <p:nvPr/>
        </p:nvSpPr>
        <p:spPr>
          <a:xfrm>
            <a:off x="938384" y="1568196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5561844-5C1F-956C-7F73-BCDA0BD0E0E1}"/>
              </a:ext>
            </a:extLst>
          </p:cNvPr>
          <p:cNvSpPr/>
          <p:nvPr/>
        </p:nvSpPr>
        <p:spPr>
          <a:xfrm>
            <a:off x="1148696" y="1695238"/>
            <a:ext cx="1161288" cy="916686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4E6DAD-0EC9-DF22-F29C-4CA2834C62D4}"/>
              </a:ext>
            </a:extLst>
          </p:cNvPr>
          <p:cNvSpPr/>
          <p:nvPr/>
        </p:nvSpPr>
        <p:spPr>
          <a:xfrm>
            <a:off x="1258424" y="1948984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Nested Cross Validation</a:t>
            </a:r>
            <a:endParaRPr lang="en-US"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D563D7-DCBB-F3AD-6FAB-8FD417A87697}"/>
              </a:ext>
            </a:extLst>
          </p:cNvPr>
          <p:cNvSpPr/>
          <p:nvPr/>
        </p:nvSpPr>
        <p:spPr>
          <a:xfrm>
            <a:off x="1038968" y="2853254"/>
            <a:ext cx="1417320" cy="98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/>
              <a:t>Used 5 outer folds for generalization performance evaluation </a:t>
            </a:r>
          </a:p>
          <a:p>
            <a:pPr marL="0" indent="0">
              <a:buNone/>
            </a:pPr>
            <a:r>
              <a:rPr lang="en-US" sz="900"/>
              <a:t>5 inner folds for hyperparameter tuning </a:t>
            </a:r>
          </a:p>
          <a:p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CDBFD8B-9812-A9E8-791E-2D2BB4C2CA03}"/>
              </a:ext>
            </a:extLst>
          </p:cNvPr>
          <p:cNvSpPr/>
          <p:nvPr/>
        </p:nvSpPr>
        <p:spPr>
          <a:xfrm>
            <a:off x="3845052" y="1569894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1274AA7-110D-CD74-D649-2C49887A0FD2}"/>
              </a:ext>
            </a:extLst>
          </p:cNvPr>
          <p:cNvSpPr/>
          <p:nvPr/>
        </p:nvSpPr>
        <p:spPr>
          <a:xfrm>
            <a:off x="3973068" y="1696936"/>
            <a:ext cx="1339596" cy="91440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E296D0-BA2E-485B-1C9B-9538D1B92F7B}"/>
              </a:ext>
            </a:extLst>
          </p:cNvPr>
          <p:cNvSpPr/>
          <p:nvPr/>
        </p:nvSpPr>
        <p:spPr>
          <a:xfrm>
            <a:off x="4169664" y="16969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Multiple Metrics</a:t>
            </a:r>
            <a:endParaRPr lang="en-US" sz="1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0DFBA12-5752-47BF-CAFA-4416B74D6D1C}"/>
              </a:ext>
            </a:extLst>
          </p:cNvPr>
          <p:cNvSpPr/>
          <p:nvPr/>
        </p:nvSpPr>
        <p:spPr>
          <a:xfrm>
            <a:off x="3922776" y="27880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Performance was checked with AUC, accuracy, F1 score, recall, and precision instead of relying on only one metric</a:t>
            </a:r>
            <a:endParaRPr lang="en-US" sz="9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644D8C0-EFDD-BE2A-BEDE-3F7462FE9D57}"/>
              </a:ext>
            </a:extLst>
          </p:cNvPr>
          <p:cNvSpPr/>
          <p:nvPr/>
        </p:nvSpPr>
        <p:spPr>
          <a:xfrm>
            <a:off x="6751720" y="1568196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9DC5B35-DD24-F42E-A44A-0EFC364A8D3B}"/>
              </a:ext>
            </a:extLst>
          </p:cNvPr>
          <p:cNvSpPr/>
          <p:nvPr/>
        </p:nvSpPr>
        <p:spPr>
          <a:xfrm>
            <a:off x="6975748" y="1695238"/>
            <a:ext cx="1152144" cy="91440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B79D45-D14A-5F0F-B44E-641D2612950C}"/>
              </a:ext>
            </a:extLst>
          </p:cNvPr>
          <p:cNvSpPr/>
          <p:nvPr/>
        </p:nvSpPr>
        <p:spPr>
          <a:xfrm>
            <a:off x="7080904" y="1885956"/>
            <a:ext cx="914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Optimism Bias</a:t>
            </a:r>
            <a:endParaRPr lang="en-US" sz="14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BBABD8E-56C7-E1E4-3A98-46039565AEA0}"/>
              </a:ext>
            </a:extLst>
          </p:cNvPr>
          <p:cNvSpPr/>
          <p:nvPr/>
        </p:nvSpPr>
        <p:spPr>
          <a:xfrm>
            <a:off x="6843160" y="2811443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only a 0.001 non-nested vs nested AUC optimism bias for Logistic Regression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2023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/>
              </a:rPr>
              <a:t>Results: Model Performance Comparison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04 Results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1700000" cy="38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H2"/>
          <p:cNvSpPr/>
          <p:nvPr/>
        </p:nvSpPr>
        <p:spPr>
          <a:xfrm>
            <a:off x="2350000" y="870000"/>
            <a:ext cx="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OOF AUC</a:t>
            </a:r>
          </a:p>
        </p:txBody>
      </p:sp>
      <p:sp>
        <p:nvSpPr>
          <p:cNvPr id="13" name="H3"/>
          <p:cNvSpPr/>
          <p:nvPr/>
        </p:nvSpPr>
        <p:spPr>
          <a:xfrm>
            <a:off x="3200000" y="87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14" name="H4"/>
          <p:cNvSpPr/>
          <p:nvPr/>
        </p:nvSpPr>
        <p:spPr>
          <a:xfrm>
            <a:off x="4000000" y="870000"/>
            <a:ext cx="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5" name="H5"/>
          <p:cNvSpPr/>
          <p:nvPr/>
        </p:nvSpPr>
        <p:spPr>
          <a:xfrm>
            <a:off x="4950000" y="870000"/>
            <a:ext cx="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6" name="H6"/>
          <p:cNvSpPr/>
          <p:nvPr/>
        </p:nvSpPr>
        <p:spPr>
          <a:xfrm>
            <a:off x="5700000" y="870000"/>
            <a:ext cx="8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7" name="H7"/>
          <p:cNvSpPr/>
          <p:nvPr/>
        </p:nvSpPr>
        <p:spPr>
          <a:xfrm>
            <a:off x="6600000" y="870000"/>
            <a:ext cx="9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50000"/>
            <a:ext cx="8503680" cy="35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★ Logistic Regression</a:t>
            </a:r>
          </a:p>
        </p:txBody>
      </p:sp>
      <p:sp>
        <p:nvSpPr>
          <p:cNvPr id="22" name="R1C2"/>
          <p:cNvSpPr/>
          <p:nvPr/>
        </p:nvSpPr>
        <p:spPr>
          <a:xfrm>
            <a:off x="2350000" y="12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0.754</a:t>
            </a:r>
          </a:p>
        </p:txBody>
      </p:sp>
      <p:sp>
        <p:nvSpPr>
          <p:cNvPr id="23" name="R1C3"/>
          <p:cNvSpPr/>
          <p:nvPr/>
        </p:nvSpPr>
        <p:spPr>
          <a:xfrm>
            <a:off x="3200000" y="12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0.010</a:t>
            </a:r>
          </a:p>
        </p:txBody>
      </p:sp>
      <p:sp>
        <p:nvSpPr>
          <p:cNvPr id="24" name="R1C4"/>
          <p:cNvSpPr/>
          <p:nvPr/>
        </p:nvSpPr>
        <p:spPr>
          <a:xfrm>
            <a:off x="4000000" y="12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0.698</a:t>
            </a:r>
          </a:p>
        </p:txBody>
      </p:sp>
      <p:sp>
        <p:nvSpPr>
          <p:cNvPr id="25" name="R1C5"/>
          <p:cNvSpPr/>
          <p:nvPr/>
        </p:nvSpPr>
        <p:spPr>
          <a:xfrm>
            <a:off x="4950000" y="12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0.630</a:t>
            </a:r>
          </a:p>
        </p:txBody>
      </p:sp>
      <p:sp>
        <p:nvSpPr>
          <p:cNvPr id="26" name="R1C6"/>
          <p:cNvSpPr/>
          <p:nvPr/>
        </p:nvSpPr>
        <p:spPr>
          <a:xfrm>
            <a:off x="5700000" y="12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0.602</a:t>
            </a:r>
          </a:p>
        </p:txBody>
      </p:sp>
      <p:sp>
        <p:nvSpPr>
          <p:cNvPr id="27" name="R1C7"/>
          <p:cNvSpPr/>
          <p:nvPr/>
        </p:nvSpPr>
        <p:spPr>
          <a:xfrm>
            <a:off x="6600000" y="12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0.660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60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60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Random Forest</a:t>
            </a:r>
          </a:p>
        </p:txBody>
      </p:sp>
      <p:sp>
        <p:nvSpPr>
          <p:cNvPr id="32" name="R2C2"/>
          <p:cNvSpPr/>
          <p:nvPr/>
        </p:nvSpPr>
        <p:spPr>
          <a:xfrm>
            <a:off x="2350000" y="16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0.749</a:t>
            </a:r>
          </a:p>
        </p:txBody>
      </p:sp>
      <p:sp>
        <p:nvSpPr>
          <p:cNvPr id="33" name="R2C3"/>
          <p:cNvSpPr/>
          <p:nvPr/>
        </p:nvSpPr>
        <p:spPr>
          <a:xfrm>
            <a:off x="3200000" y="160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0.011</a:t>
            </a:r>
          </a:p>
        </p:txBody>
      </p:sp>
      <p:sp>
        <p:nvSpPr>
          <p:cNvPr id="34" name="R2C4"/>
          <p:cNvSpPr/>
          <p:nvPr/>
        </p:nvSpPr>
        <p:spPr>
          <a:xfrm>
            <a:off x="4000000" y="16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0.749</a:t>
            </a:r>
          </a:p>
        </p:txBody>
      </p:sp>
      <p:sp>
        <p:nvSpPr>
          <p:cNvPr id="35" name="R2C5"/>
          <p:cNvSpPr/>
          <p:nvPr/>
        </p:nvSpPr>
        <p:spPr>
          <a:xfrm>
            <a:off x="4950000" y="160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0.685</a:t>
            </a:r>
          </a:p>
        </p:txBody>
      </p:sp>
      <p:sp>
        <p:nvSpPr>
          <p:cNvPr id="36" name="R2C6"/>
          <p:cNvSpPr/>
          <p:nvPr/>
        </p:nvSpPr>
        <p:spPr>
          <a:xfrm>
            <a:off x="5700000" y="160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0.598</a:t>
            </a:r>
          </a:p>
        </p:txBody>
      </p:sp>
      <p:sp>
        <p:nvSpPr>
          <p:cNvPr id="37" name="R2C7"/>
          <p:cNvSpPr/>
          <p:nvPr/>
        </p:nvSpPr>
        <p:spPr>
          <a:xfrm>
            <a:off x="6600000" y="160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0.640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5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XGBoost</a:t>
            </a:r>
          </a:p>
        </p:txBody>
      </p:sp>
      <p:sp>
        <p:nvSpPr>
          <p:cNvPr id="42" name="R3C2"/>
          <p:cNvSpPr/>
          <p:nvPr/>
        </p:nvSpPr>
        <p:spPr>
          <a:xfrm>
            <a:off x="2350000" y="19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0.752</a:t>
            </a:r>
          </a:p>
        </p:txBody>
      </p:sp>
      <p:sp>
        <p:nvSpPr>
          <p:cNvPr id="43" name="R3C3"/>
          <p:cNvSpPr/>
          <p:nvPr/>
        </p:nvSpPr>
        <p:spPr>
          <a:xfrm>
            <a:off x="3200000" y="19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0.014</a:t>
            </a:r>
          </a:p>
        </p:txBody>
      </p:sp>
      <p:sp>
        <p:nvSpPr>
          <p:cNvPr id="44" name="R3C4"/>
          <p:cNvSpPr/>
          <p:nvPr/>
        </p:nvSpPr>
        <p:spPr>
          <a:xfrm>
            <a:off x="4000000" y="19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0.748</a:t>
            </a:r>
          </a:p>
        </p:txBody>
      </p:sp>
      <p:sp>
        <p:nvSpPr>
          <p:cNvPr id="45" name="R3C5"/>
          <p:cNvSpPr/>
          <p:nvPr/>
        </p:nvSpPr>
        <p:spPr>
          <a:xfrm>
            <a:off x="4950000" y="19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0.687</a:t>
            </a:r>
          </a:p>
        </p:txBody>
      </p:sp>
      <p:sp>
        <p:nvSpPr>
          <p:cNvPr id="46" name="R3C6"/>
          <p:cNvSpPr/>
          <p:nvPr/>
        </p:nvSpPr>
        <p:spPr>
          <a:xfrm>
            <a:off x="5700000" y="19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0.642</a:t>
            </a:r>
          </a:p>
        </p:txBody>
      </p:sp>
      <p:sp>
        <p:nvSpPr>
          <p:cNvPr id="47" name="R3C7"/>
          <p:cNvSpPr/>
          <p:nvPr/>
        </p:nvSpPr>
        <p:spPr>
          <a:xfrm>
            <a:off x="6600000" y="19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0.632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30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30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KNN</a:t>
            </a:r>
          </a:p>
        </p:txBody>
      </p:sp>
      <p:sp>
        <p:nvSpPr>
          <p:cNvPr id="52" name="R4C2"/>
          <p:cNvSpPr/>
          <p:nvPr/>
        </p:nvSpPr>
        <p:spPr>
          <a:xfrm>
            <a:off x="2350000" y="23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0.717</a:t>
            </a:r>
          </a:p>
        </p:txBody>
      </p:sp>
      <p:sp>
        <p:nvSpPr>
          <p:cNvPr id="53" name="R4C3"/>
          <p:cNvSpPr/>
          <p:nvPr/>
        </p:nvSpPr>
        <p:spPr>
          <a:xfrm>
            <a:off x="3200000" y="230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0.017</a:t>
            </a:r>
          </a:p>
        </p:txBody>
      </p:sp>
      <p:sp>
        <p:nvSpPr>
          <p:cNvPr id="54" name="R4C4"/>
          <p:cNvSpPr/>
          <p:nvPr/>
        </p:nvSpPr>
        <p:spPr>
          <a:xfrm>
            <a:off x="4000000" y="23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0.717</a:t>
            </a:r>
          </a:p>
        </p:txBody>
      </p:sp>
      <p:sp>
        <p:nvSpPr>
          <p:cNvPr id="55" name="R4C5"/>
          <p:cNvSpPr/>
          <p:nvPr/>
        </p:nvSpPr>
        <p:spPr>
          <a:xfrm>
            <a:off x="4950000" y="230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0.662</a:t>
            </a:r>
          </a:p>
        </p:txBody>
      </p:sp>
      <p:sp>
        <p:nvSpPr>
          <p:cNvPr id="56" name="R4C6"/>
          <p:cNvSpPr/>
          <p:nvPr/>
        </p:nvSpPr>
        <p:spPr>
          <a:xfrm>
            <a:off x="5700000" y="230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0.606</a:t>
            </a:r>
          </a:p>
        </p:txBody>
      </p:sp>
      <p:sp>
        <p:nvSpPr>
          <p:cNvPr id="57" name="R4C7"/>
          <p:cNvSpPr/>
          <p:nvPr/>
        </p:nvSpPr>
        <p:spPr>
          <a:xfrm>
            <a:off x="6600000" y="230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0.604</a:t>
            </a:r>
          </a:p>
        </p:txBody>
      </p:sp>
      <p:sp>
        <p:nvSpPr>
          <p:cNvPr id="60" name="R5Bg"/>
          <p:cNvSpPr/>
          <p:nvPr/>
        </p:nvSpPr>
        <p:spPr>
          <a:xfrm>
            <a:off x="457200" y="265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R5C1"/>
          <p:cNvSpPr/>
          <p:nvPr/>
        </p:nvSpPr>
        <p:spPr>
          <a:xfrm>
            <a:off x="530000" y="26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Decision Tree</a:t>
            </a:r>
          </a:p>
        </p:txBody>
      </p:sp>
      <p:sp>
        <p:nvSpPr>
          <p:cNvPr id="62" name="R5C2"/>
          <p:cNvSpPr/>
          <p:nvPr/>
        </p:nvSpPr>
        <p:spPr>
          <a:xfrm>
            <a:off x="2350000" y="26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0.716</a:t>
            </a:r>
          </a:p>
        </p:txBody>
      </p:sp>
      <p:sp>
        <p:nvSpPr>
          <p:cNvPr id="63" name="R5C3"/>
          <p:cNvSpPr/>
          <p:nvPr/>
        </p:nvSpPr>
        <p:spPr>
          <a:xfrm>
            <a:off x="3200000" y="26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0.018</a:t>
            </a:r>
          </a:p>
        </p:txBody>
      </p:sp>
      <p:sp>
        <p:nvSpPr>
          <p:cNvPr id="64" name="R5C4"/>
          <p:cNvSpPr/>
          <p:nvPr/>
        </p:nvSpPr>
        <p:spPr>
          <a:xfrm>
            <a:off x="4000000" y="26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0.716</a:t>
            </a:r>
          </a:p>
        </p:txBody>
      </p:sp>
      <p:sp>
        <p:nvSpPr>
          <p:cNvPr id="65" name="R5C5"/>
          <p:cNvSpPr/>
          <p:nvPr/>
        </p:nvSpPr>
        <p:spPr>
          <a:xfrm>
            <a:off x="4950000" y="26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0.666</a:t>
            </a:r>
          </a:p>
        </p:txBody>
      </p:sp>
      <p:sp>
        <p:nvSpPr>
          <p:cNvPr id="66" name="R5C6"/>
          <p:cNvSpPr/>
          <p:nvPr/>
        </p:nvSpPr>
        <p:spPr>
          <a:xfrm>
            <a:off x="5700000" y="26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0.618</a:t>
            </a:r>
          </a:p>
        </p:txBody>
      </p:sp>
      <p:sp>
        <p:nvSpPr>
          <p:cNvPr id="67" name="R5C7"/>
          <p:cNvSpPr/>
          <p:nvPr/>
        </p:nvSpPr>
        <p:spPr>
          <a:xfrm>
            <a:off x="6600000" y="26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0.604</a:t>
            </a:r>
          </a:p>
        </p:txBody>
      </p:sp>
      <p:sp>
        <p:nvSpPr>
          <p:cNvPr id="70" name="InterpCard"/>
          <p:cNvSpPr/>
          <p:nvPr/>
        </p:nvSpPr>
        <p:spPr>
          <a:xfrm>
            <a:off x="497541" y="2972253"/>
            <a:ext cx="8463339" cy="21690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InterpText"/>
          <p:cNvSpPr/>
          <p:nvPr/>
        </p:nvSpPr>
        <p:spPr>
          <a:xfrm>
            <a:off x="470646" y="2972253"/>
            <a:ext cx="8483510" cy="2068159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All five models scored similarly (AUC 0.72–0.76) — surprising given the range from Decision Tree to XGBoost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Month-to-month churn has a clear, learnable signal — even simple models can detect it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Logistic Regression winning while staying fully interpretable was an unexpected and useful result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Our model correctly flags 3 out of 4 customers who are about to leave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Lowering the alert threshold to 0.30 catches more churners early — retaining a customer costs less than acquiring a new one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Score all month-to-month customers monthly using Logistic Regression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Flag anyone above 0.30 churn probability for proactive outreach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Re-evaluate threshold quarterly as customer mix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/>
              </a:rPr>
              <a:t>Feature Importance &amp; Interpretability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04 Results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7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H2"/>
          <p:cNvSpPr/>
          <p:nvPr/>
        </p:nvSpPr>
        <p:spPr>
          <a:xfrm>
            <a:off x="22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1</a:t>
            </a:r>
          </a:p>
        </p:txBody>
      </p:sp>
      <p:sp>
        <p:nvSpPr>
          <p:cNvPr id="13" name="H3"/>
          <p:cNvSpPr/>
          <p:nvPr/>
        </p:nvSpPr>
        <p:spPr>
          <a:xfrm>
            <a:off x="39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2</a:t>
            </a:r>
          </a:p>
        </p:txBody>
      </p:sp>
      <p:sp>
        <p:nvSpPr>
          <p:cNvPr id="14" name="H4"/>
          <p:cNvSpPr/>
          <p:nvPr/>
        </p:nvSpPr>
        <p:spPr>
          <a:xfrm>
            <a:off x="5530000" y="87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3</a:t>
            </a:r>
          </a:p>
        </p:txBody>
      </p:sp>
      <p:sp>
        <p:nvSpPr>
          <p:cNvPr id="15" name="H5"/>
          <p:cNvSpPr/>
          <p:nvPr/>
        </p:nvSpPr>
        <p:spPr>
          <a:xfrm>
            <a:off x="7100000" y="87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4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40000"/>
            <a:ext cx="850368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Decision Tree</a:t>
            </a:r>
          </a:p>
        </p:txBody>
      </p:sp>
      <p:sp>
        <p:nvSpPr>
          <p:cNvPr id="22" name="R1C2"/>
          <p:cNvSpPr/>
          <p:nvPr/>
        </p:nvSpPr>
        <p:spPr>
          <a:xfrm>
            <a:off x="22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(0.39)</a:t>
            </a:r>
          </a:p>
        </p:txBody>
      </p:sp>
      <p:sp>
        <p:nvSpPr>
          <p:cNvPr id="23" name="R1C3"/>
          <p:cNvSpPr/>
          <p:nvPr/>
        </p:nvSpPr>
        <p:spPr>
          <a:xfrm>
            <a:off x="39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(0.30)</a:t>
            </a:r>
          </a:p>
        </p:txBody>
      </p:sp>
      <p:sp>
        <p:nvSpPr>
          <p:cNvPr id="24" name="R1C4"/>
          <p:cNvSpPr/>
          <p:nvPr/>
        </p:nvSpPr>
        <p:spPr>
          <a:xfrm>
            <a:off x="5530000" y="124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avg_monthly (0.09)</a:t>
            </a:r>
          </a:p>
        </p:txBody>
      </p:sp>
      <p:sp>
        <p:nvSpPr>
          <p:cNvPr id="25" name="R1C5"/>
          <p:cNvSpPr/>
          <p:nvPr/>
        </p:nvSpPr>
        <p:spPr>
          <a:xfrm>
            <a:off x="7100000" y="124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(0.07)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610000"/>
            <a:ext cx="8503680" cy="37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Logistic Reg.</a:t>
            </a:r>
          </a:p>
        </p:txBody>
      </p:sp>
      <p:sp>
        <p:nvSpPr>
          <p:cNvPr id="32" name="R2C2"/>
          <p:cNvSpPr/>
          <p:nvPr/>
        </p:nvSpPr>
        <p:spPr>
          <a:xfrm>
            <a:off x="22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48-72m (OR 4.79)</a:t>
            </a:r>
          </a:p>
        </p:txBody>
      </p:sp>
      <p:sp>
        <p:nvSpPr>
          <p:cNvPr id="33" name="R2C3"/>
          <p:cNvSpPr/>
          <p:nvPr/>
        </p:nvSpPr>
        <p:spPr>
          <a:xfrm>
            <a:off x="39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24-48m (OR 2.05)</a:t>
            </a:r>
          </a:p>
        </p:txBody>
      </p:sp>
      <p:sp>
        <p:nvSpPr>
          <p:cNvPr id="34" name="R2C4"/>
          <p:cNvSpPr/>
          <p:nvPr/>
        </p:nvSpPr>
        <p:spPr>
          <a:xfrm>
            <a:off x="5530000" y="161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is_fiber (OR 1.62)</a:t>
            </a:r>
          </a:p>
        </p:txBody>
      </p:sp>
      <p:sp>
        <p:nvSpPr>
          <p:cNvPr id="35" name="R2C5"/>
          <p:cNvSpPr/>
          <p:nvPr/>
        </p:nvSpPr>
        <p:spPr>
          <a:xfrm>
            <a:off x="7100000" y="161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MultipleLines (OR 1.51)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80000"/>
            <a:ext cx="850368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Random Forest</a:t>
            </a:r>
          </a:p>
        </p:txBody>
      </p:sp>
      <p:sp>
        <p:nvSpPr>
          <p:cNvPr id="42" name="R3C2"/>
          <p:cNvSpPr/>
          <p:nvPr/>
        </p:nvSpPr>
        <p:spPr>
          <a:xfrm>
            <a:off x="22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(0.13)</a:t>
            </a:r>
          </a:p>
        </p:txBody>
      </p:sp>
      <p:sp>
        <p:nvSpPr>
          <p:cNvPr id="43" name="R3C3"/>
          <p:cNvSpPr/>
          <p:nvPr/>
        </p:nvSpPr>
        <p:spPr>
          <a:xfrm>
            <a:off x="39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(0.10)</a:t>
            </a:r>
          </a:p>
        </p:txBody>
      </p:sp>
      <p:sp>
        <p:nvSpPr>
          <p:cNvPr id="44" name="R3C4"/>
          <p:cNvSpPr/>
          <p:nvPr/>
        </p:nvSpPr>
        <p:spPr>
          <a:xfrm>
            <a:off x="5530000" y="198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(0.09)</a:t>
            </a:r>
          </a:p>
        </p:txBody>
      </p:sp>
      <p:sp>
        <p:nvSpPr>
          <p:cNvPr id="45" name="R3C5"/>
          <p:cNvSpPr/>
          <p:nvPr/>
        </p:nvSpPr>
        <p:spPr>
          <a:xfrm>
            <a:off x="7100000" y="198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(0.09)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350000"/>
            <a:ext cx="8503680" cy="37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XGBoost</a:t>
            </a:r>
          </a:p>
        </p:txBody>
      </p:sp>
      <p:sp>
        <p:nvSpPr>
          <p:cNvPr id="52" name="R4C2"/>
          <p:cNvSpPr/>
          <p:nvPr/>
        </p:nvSpPr>
        <p:spPr>
          <a:xfrm>
            <a:off x="22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Internet Fiber (0.23)</a:t>
            </a:r>
          </a:p>
        </p:txBody>
      </p:sp>
      <p:sp>
        <p:nvSpPr>
          <p:cNvPr id="53" name="R4C3"/>
          <p:cNvSpPr/>
          <p:nvPr/>
        </p:nvSpPr>
        <p:spPr>
          <a:xfrm>
            <a:off x="39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(0.12)</a:t>
            </a:r>
          </a:p>
        </p:txBody>
      </p:sp>
      <p:sp>
        <p:nvSpPr>
          <p:cNvPr id="54" name="R4C4"/>
          <p:cNvSpPr/>
          <p:nvPr/>
        </p:nvSpPr>
        <p:spPr>
          <a:xfrm>
            <a:off x="5530000" y="235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(0.10)</a:t>
            </a:r>
          </a:p>
        </p:txBody>
      </p:sp>
      <p:sp>
        <p:nvSpPr>
          <p:cNvPr id="55" name="R4C5"/>
          <p:cNvSpPr/>
          <p:nvPr/>
        </p:nvSpPr>
        <p:spPr>
          <a:xfrm>
            <a:off x="7100000" y="235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(0.08)</a:t>
            </a:r>
          </a:p>
        </p:txBody>
      </p:sp>
      <p:sp>
        <p:nvSpPr>
          <p:cNvPr id="60" name="InterpCard"/>
          <p:cNvSpPr/>
          <p:nvPr/>
        </p:nvSpPr>
        <p:spPr>
          <a:xfrm>
            <a:off x="497541" y="2820000"/>
            <a:ext cx="8463339" cy="2287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InterpText"/>
          <p:cNvSpPr/>
          <p:nvPr/>
        </p:nvSpPr>
        <p:spPr>
          <a:xfrm>
            <a:off x="457200" y="2820000"/>
            <a:ext cx="8503680" cy="2960000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Engineered features (charge_per_service, tenure_per_service) outranked all raw variables — the biggest finding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Customers in months 24–72 had the highest churn odds — surprising, as longer tenure usually signals loyalty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Fiber optic and electronic check appear as high-risk signals across all four models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Customers paying a lot for few services are most likely to leave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Fiber optic + electronic check users are price-sensitive and easy to switch — highest risk profile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Target fiber optic + electronic check customers with bundle or discount offers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Intervene at the 24-month mark before churn risk peaks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Upsell low-service customers to add-ons — reduces charge_per_service and improves retention</a:t>
            </a:r>
          </a:p>
        </p:txBody>
      </p:sp>
    </p:spTree>
    <p:extLst>
      <p:ext uri="{BB962C8B-B14F-4D97-AF65-F5344CB8AC3E}">
        <p14:creationId xmlns:p14="http://schemas.microsoft.com/office/powerpoint/2010/main" val="583391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/>
              </a:rPr>
              <a:t>Customer Lifetime Value &amp; Segmentation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05 CLV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7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2" name="H2"/>
          <p:cNvSpPr/>
          <p:nvPr/>
        </p:nvSpPr>
        <p:spPr>
          <a:xfrm>
            <a:off x="1530000" y="870000"/>
            <a:ext cx="10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CLV Range</a:t>
            </a:r>
          </a:p>
        </p:txBody>
      </p:sp>
      <p:sp>
        <p:nvSpPr>
          <p:cNvPr id="13" name="H3"/>
          <p:cNvSpPr/>
          <p:nvPr/>
        </p:nvSpPr>
        <p:spPr>
          <a:xfrm>
            <a:off x="2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4" name="H4"/>
          <p:cNvSpPr/>
          <p:nvPr/>
        </p:nvSpPr>
        <p:spPr>
          <a:xfrm>
            <a:off x="3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CLV</a:t>
            </a:r>
          </a:p>
        </p:txBody>
      </p:sp>
      <p:sp>
        <p:nvSpPr>
          <p:cNvPr id="15" name="H5"/>
          <p:cNvSpPr/>
          <p:nvPr/>
        </p:nvSpPr>
        <p:spPr>
          <a:xfrm>
            <a:off x="4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Churn Prob</a:t>
            </a:r>
          </a:p>
        </p:txBody>
      </p:sp>
      <p:sp>
        <p:nvSpPr>
          <p:cNvPr id="16" name="H6"/>
          <p:cNvSpPr/>
          <p:nvPr/>
        </p:nvSpPr>
        <p:spPr>
          <a:xfrm>
            <a:off x="5630000" y="870000"/>
            <a:ext cx="10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Tenure</a:t>
            </a:r>
          </a:p>
        </p:txBody>
      </p:sp>
      <p:sp>
        <p:nvSpPr>
          <p:cNvPr id="17" name="H7"/>
          <p:cNvSpPr/>
          <p:nvPr/>
        </p:nvSpPr>
        <p:spPr>
          <a:xfrm>
            <a:off x="6730000" y="870000"/>
            <a:ext cx="11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Monthly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4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Low</a:t>
            </a:r>
          </a:p>
        </p:txBody>
      </p:sp>
      <p:sp>
        <p:nvSpPr>
          <p:cNvPr id="22" name="R1C2"/>
          <p:cNvSpPr/>
          <p:nvPr/>
        </p:nvSpPr>
        <p:spPr>
          <a:xfrm>
            <a:off x="1530000" y="12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&lt; $200</a:t>
            </a:r>
          </a:p>
        </p:txBody>
      </p:sp>
      <p:sp>
        <p:nvSpPr>
          <p:cNvPr id="23" name="R1C3"/>
          <p:cNvSpPr/>
          <p:nvPr/>
        </p:nvSpPr>
        <p:spPr>
          <a:xfrm>
            <a:off x="2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1,091</a:t>
            </a:r>
          </a:p>
        </p:txBody>
      </p:sp>
      <p:sp>
        <p:nvSpPr>
          <p:cNvPr id="24" name="R1C4"/>
          <p:cNvSpPr/>
          <p:nvPr/>
        </p:nvSpPr>
        <p:spPr>
          <a:xfrm>
            <a:off x="3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$82</a:t>
            </a:r>
          </a:p>
        </p:txBody>
      </p:sp>
      <p:sp>
        <p:nvSpPr>
          <p:cNvPr id="25" name="R1C5"/>
          <p:cNvSpPr/>
          <p:nvPr/>
        </p:nvSpPr>
        <p:spPr>
          <a:xfrm>
            <a:off x="4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48%</a:t>
            </a:r>
          </a:p>
        </p:txBody>
      </p:sp>
      <p:sp>
        <p:nvSpPr>
          <p:cNvPr id="26" name="R1C6"/>
          <p:cNvSpPr/>
          <p:nvPr/>
        </p:nvSpPr>
        <p:spPr>
          <a:xfrm>
            <a:off x="5630000" y="12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2.1 months</a:t>
            </a:r>
          </a:p>
        </p:txBody>
      </p:sp>
      <p:sp>
        <p:nvSpPr>
          <p:cNvPr id="27" name="R1C7"/>
          <p:cNvSpPr/>
          <p:nvPr/>
        </p:nvSpPr>
        <p:spPr>
          <a:xfrm>
            <a:off x="6730000" y="124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$47.12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59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Medium</a:t>
            </a:r>
          </a:p>
        </p:txBody>
      </p:sp>
      <p:sp>
        <p:nvSpPr>
          <p:cNvPr id="32" name="R2C2"/>
          <p:cNvSpPr/>
          <p:nvPr/>
        </p:nvSpPr>
        <p:spPr>
          <a:xfrm>
            <a:off x="1530000" y="15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$200 – $600</a:t>
            </a:r>
          </a:p>
        </p:txBody>
      </p:sp>
      <p:sp>
        <p:nvSpPr>
          <p:cNvPr id="33" name="R2C3"/>
          <p:cNvSpPr/>
          <p:nvPr/>
        </p:nvSpPr>
        <p:spPr>
          <a:xfrm>
            <a:off x="2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741</a:t>
            </a:r>
          </a:p>
        </p:txBody>
      </p:sp>
      <p:sp>
        <p:nvSpPr>
          <p:cNvPr id="34" name="R2C4"/>
          <p:cNvSpPr/>
          <p:nvPr/>
        </p:nvSpPr>
        <p:spPr>
          <a:xfrm>
            <a:off x="3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$373</a:t>
            </a:r>
          </a:p>
        </p:txBody>
      </p:sp>
      <p:sp>
        <p:nvSpPr>
          <p:cNvPr id="35" name="R2C5"/>
          <p:cNvSpPr/>
          <p:nvPr/>
        </p:nvSpPr>
        <p:spPr>
          <a:xfrm>
            <a:off x="4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46%</a:t>
            </a:r>
          </a:p>
        </p:txBody>
      </p:sp>
      <p:sp>
        <p:nvSpPr>
          <p:cNvPr id="36" name="R2C6"/>
          <p:cNvSpPr/>
          <p:nvPr/>
        </p:nvSpPr>
        <p:spPr>
          <a:xfrm>
            <a:off x="5630000" y="15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8.3 months</a:t>
            </a:r>
          </a:p>
        </p:txBody>
      </p:sp>
      <p:sp>
        <p:nvSpPr>
          <p:cNvPr id="37" name="R2C7"/>
          <p:cNvSpPr/>
          <p:nvPr/>
        </p:nvSpPr>
        <p:spPr>
          <a:xfrm>
            <a:off x="6730000" y="159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$58.35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4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High</a:t>
            </a:r>
          </a:p>
        </p:txBody>
      </p:sp>
      <p:sp>
        <p:nvSpPr>
          <p:cNvPr id="42" name="R3C2"/>
          <p:cNvSpPr/>
          <p:nvPr/>
        </p:nvSpPr>
        <p:spPr>
          <a:xfrm>
            <a:off x="1530000" y="19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$600 – $1,500</a:t>
            </a:r>
          </a:p>
        </p:txBody>
      </p:sp>
      <p:sp>
        <p:nvSpPr>
          <p:cNvPr id="43" name="R3C3"/>
          <p:cNvSpPr/>
          <p:nvPr/>
        </p:nvSpPr>
        <p:spPr>
          <a:xfrm>
            <a:off x="2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778</a:t>
            </a:r>
          </a:p>
        </p:txBody>
      </p:sp>
      <p:sp>
        <p:nvSpPr>
          <p:cNvPr id="44" name="R3C4"/>
          <p:cNvSpPr/>
          <p:nvPr/>
        </p:nvSpPr>
        <p:spPr>
          <a:xfrm>
            <a:off x="3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$999</a:t>
            </a:r>
          </a:p>
        </p:txBody>
      </p:sp>
      <p:sp>
        <p:nvSpPr>
          <p:cNvPr id="45" name="R3C5"/>
          <p:cNvSpPr/>
          <p:nvPr/>
        </p:nvSpPr>
        <p:spPr>
          <a:xfrm>
            <a:off x="4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43%</a:t>
            </a:r>
          </a:p>
        </p:txBody>
      </p:sp>
      <p:sp>
        <p:nvSpPr>
          <p:cNvPr id="46" name="R3C6"/>
          <p:cNvSpPr/>
          <p:nvPr/>
        </p:nvSpPr>
        <p:spPr>
          <a:xfrm>
            <a:off x="5630000" y="19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16.4 months</a:t>
            </a:r>
          </a:p>
        </p:txBody>
      </p:sp>
      <p:sp>
        <p:nvSpPr>
          <p:cNvPr id="47" name="R3C7"/>
          <p:cNvSpPr/>
          <p:nvPr/>
        </p:nvSpPr>
        <p:spPr>
          <a:xfrm>
            <a:off x="6730000" y="194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$69.44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290000"/>
            <a:ext cx="8503680" cy="35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★ Premium</a:t>
            </a:r>
          </a:p>
        </p:txBody>
      </p:sp>
      <p:sp>
        <p:nvSpPr>
          <p:cNvPr id="52" name="R4C2"/>
          <p:cNvSpPr/>
          <p:nvPr/>
        </p:nvSpPr>
        <p:spPr>
          <a:xfrm>
            <a:off x="1530000" y="22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&gt; $1,500</a:t>
            </a:r>
          </a:p>
        </p:txBody>
      </p:sp>
      <p:sp>
        <p:nvSpPr>
          <p:cNvPr id="53" name="R4C3"/>
          <p:cNvSpPr/>
          <p:nvPr/>
        </p:nvSpPr>
        <p:spPr>
          <a:xfrm>
            <a:off x="2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1,265</a:t>
            </a:r>
          </a:p>
        </p:txBody>
      </p:sp>
      <p:sp>
        <p:nvSpPr>
          <p:cNvPr id="54" name="R4C4"/>
          <p:cNvSpPr/>
          <p:nvPr/>
        </p:nvSpPr>
        <p:spPr>
          <a:xfrm>
            <a:off x="3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$3,293</a:t>
            </a:r>
          </a:p>
        </p:txBody>
      </p:sp>
      <p:sp>
        <p:nvSpPr>
          <p:cNvPr id="55" name="R4C5"/>
          <p:cNvSpPr/>
          <p:nvPr/>
        </p:nvSpPr>
        <p:spPr>
          <a:xfrm>
            <a:off x="4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35%</a:t>
            </a:r>
          </a:p>
        </p:txBody>
      </p:sp>
      <p:sp>
        <p:nvSpPr>
          <p:cNvPr id="56" name="R4C6"/>
          <p:cNvSpPr/>
          <p:nvPr/>
        </p:nvSpPr>
        <p:spPr>
          <a:xfrm>
            <a:off x="5630000" y="22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38.5 months</a:t>
            </a:r>
          </a:p>
        </p:txBody>
      </p:sp>
      <p:sp>
        <p:nvSpPr>
          <p:cNvPr id="57" name="R4C7"/>
          <p:cNvSpPr/>
          <p:nvPr/>
        </p:nvSpPr>
        <p:spPr>
          <a:xfrm>
            <a:off x="6730000" y="229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$85.86</a:t>
            </a:r>
          </a:p>
        </p:txBody>
      </p:sp>
      <p:sp>
        <p:nvSpPr>
          <p:cNvPr id="60" name="InterpCard"/>
          <p:cNvSpPr/>
          <p:nvPr/>
        </p:nvSpPr>
        <p:spPr>
          <a:xfrm>
            <a:off x="497541" y="2740000"/>
            <a:ext cx="8463339" cy="23810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InterpText"/>
          <p:cNvSpPr/>
          <p:nvPr/>
        </p:nvSpPr>
        <p:spPr>
          <a:xfrm>
            <a:off x="457200" y="2740000"/>
            <a:ext cx="8503680" cy="3040000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Premium: highest CLV ($3,293) and lowest churn (35%) — most loyal and most valuable simultaneously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Surprising: Low segment has the highest churn (48%) despite generating the least revenue — new customers are hardest to retain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Losing one Premium customer = over $3,000 in lost revenue — top retention priority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The first 3 months are a critical loyalty window for Low segment customers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Prioritise Premium segment for high-touch, personalised retention offers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Introduce onboarding incentives for Low segment in months 1–3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Use CLV scores to allocate retention budget proportionally across segments</a:t>
            </a:r>
          </a:p>
        </p:txBody>
      </p:sp>
    </p:spTree>
    <p:extLst>
      <p:ext uri="{BB962C8B-B14F-4D97-AF65-F5344CB8AC3E}">
        <p14:creationId xmlns:p14="http://schemas.microsoft.com/office/powerpoint/2010/main" val="190647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75480" y="-620425"/>
            <a:ext cx="1286609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498231"/>
            <a:ext cx="6061974" cy="420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B2A68C9F-0223-C7B3-BEF2-6F2CC020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2" y="643893"/>
            <a:ext cx="5624359" cy="390893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62835" y="2544073"/>
            <a:ext cx="1289304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8B553-7D60-8DFD-989F-22DC9667F8F3}"/>
              </a:ext>
            </a:extLst>
          </p:cNvPr>
          <p:cNvSpPr txBox="1"/>
          <p:nvPr/>
        </p:nvSpPr>
        <p:spPr>
          <a:xfrm>
            <a:off x="6290441" y="1516172"/>
            <a:ext cx="2674938" cy="1938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/>
              <a:t>Act Now:</a:t>
            </a:r>
            <a:r>
              <a:rPr lang="en-US" sz="1000"/>
              <a:t> Retain </a:t>
            </a:r>
            <a:r>
              <a:rPr lang="en-US" sz="1000" b="1"/>
              <a:t>High CLV + High Churn Risk</a:t>
            </a:r>
            <a:r>
              <a:rPr lang="en-US" sz="1000"/>
              <a:t> customers (largest revenue impact) </a:t>
            </a:r>
            <a:endParaRPr lang="en-US" sz="1000">
              <a:ea typeface="Calibri"/>
              <a:cs typeface="Calibri"/>
            </a:endParaRPr>
          </a:p>
          <a:p>
            <a:endParaRPr lang="en-US" sz="1000">
              <a:ea typeface="Calibri"/>
              <a:cs typeface="Calibri"/>
            </a:endParaRPr>
          </a:p>
          <a:p>
            <a:r>
              <a:rPr lang="en-US" sz="1000" b="1"/>
              <a:t>Nurture:</a:t>
            </a:r>
            <a:r>
              <a:rPr lang="en-US" sz="1000"/>
              <a:t> Maintain </a:t>
            </a:r>
            <a:r>
              <a:rPr lang="en-US" sz="1000" b="1"/>
              <a:t>High CLV + Low Risk</a:t>
            </a:r>
            <a:r>
              <a:rPr lang="en-US" sz="1000"/>
              <a:t> customers (protect long-term value) </a:t>
            </a:r>
            <a:endParaRPr lang="en-US" sz="1000">
              <a:ea typeface="Calibri"/>
              <a:cs typeface="Calibri"/>
            </a:endParaRPr>
          </a:p>
          <a:p>
            <a:endParaRPr lang="en-US" sz="1000">
              <a:ea typeface="Calibri"/>
              <a:cs typeface="Calibri"/>
            </a:endParaRPr>
          </a:p>
          <a:p>
            <a:r>
              <a:rPr lang="en-US" sz="1000" b="1"/>
              <a:t>Monitor:</a:t>
            </a:r>
            <a:r>
              <a:rPr lang="en-US" sz="1000"/>
              <a:t> Track </a:t>
            </a:r>
            <a:r>
              <a:rPr lang="en-US" sz="1000" b="1"/>
              <a:t>Low CLV + High Risk</a:t>
            </a:r>
            <a:r>
              <a:rPr lang="en-US" sz="1000"/>
              <a:t> customers (low revenue impact) </a:t>
            </a:r>
            <a:endParaRPr lang="en-US" sz="1000">
              <a:ea typeface="Calibri"/>
              <a:cs typeface="Calibri"/>
            </a:endParaRPr>
          </a:p>
          <a:p>
            <a:endParaRPr lang="en-US" sz="1000">
              <a:ea typeface="Calibri"/>
              <a:cs typeface="Calibri"/>
            </a:endParaRPr>
          </a:p>
          <a:p>
            <a:r>
              <a:rPr lang="en-US" sz="1000" b="1"/>
              <a:t>Standard:</a:t>
            </a:r>
            <a:r>
              <a:rPr lang="en-US" sz="1000"/>
              <a:t> Minimal intervention for </a:t>
            </a:r>
            <a:r>
              <a:rPr lang="en-US" sz="1000" b="1"/>
              <a:t>Low CLV + Low Risk</a:t>
            </a:r>
            <a:r>
              <a:rPr lang="en-US" sz="1000"/>
              <a:t> customers</a:t>
            </a:r>
            <a:endParaRPr lang="en-US" sz="1000">
              <a:ea typeface="Calibri"/>
              <a:cs typeface="Calibri"/>
            </a:endParaRPr>
          </a:p>
          <a:p>
            <a:pPr algn="ctr"/>
            <a:endParaRPr lang="en-GB" sz="1000">
              <a:ea typeface="Calibri"/>
              <a:cs typeface="Calibri"/>
            </a:endParaRPr>
          </a:p>
        </p:txBody>
      </p:sp>
      <p:sp>
        <p:nvSpPr>
          <p:cNvPr id="6" name="Badge">
            <a:extLst>
              <a:ext uri="{FF2B5EF4-FFF2-40B4-BE49-F238E27FC236}">
                <a16:creationId xmlns:a16="http://schemas.microsoft.com/office/drawing/2014/main" id="{A5D6CF7D-CD3D-202A-0E11-1897ADE1BCDF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</a:rPr>
              <a:t>05 CLV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A3ABFBE7-DD82-404A-57B9-9FFE604052E9}"/>
              </a:ext>
            </a:extLst>
          </p:cNvPr>
          <p:cNvSpPr/>
          <p:nvPr/>
        </p:nvSpPr>
        <p:spPr>
          <a:xfrm>
            <a:off x="453259" y="228600"/>
            <a:ext cx="7281303" cy="333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</a:rPr>
              <a:t>Business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Reflection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Critical </a:t>
            </a:r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A9A9F-4A4E-3B72-2EC8-0A16F349A5FB}"/>
              </a:ext>
            </a:extLst>
          </p:cNvPr>
          <p:cNvSpPr txBox="1"/>
          <p:nvPr/>
        </p:nvSpPr>
        <p:spPr>
          <a:xfrm>
            <a:off x="396875" y="896938"/>
            <a:ext cx="779462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CLV approximation:</a:t>
            </a:r>
            <a:r>
              <a:rPr lang="en-US">
                <a:solidFill>
                  <a:srgbClr val="002060"/>
                </a:solidFill>
              </a:rPr>
              <a:t> Customer value estimated from charges and tenure rather than full revenue or profit history.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Data limits:</a:t>
            </a:r>
            <a:r>
              <a:rPr lang="en-US">
                <a:solidFill>
                  <a:srgbClr val="002060"/>
                </a:solidFill>
              </a:rPr>
              <a:t> The dataset lacks detailed usage patterns, service interactions, and cost information, which limits the ability to model true customer profitability and behavioral drivers of churn.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Model choice:</a:t>
            </a:r>
            <a:r>
              <a:rPr lang="en-US">
                <a:solidFill>
                  <a:srgbClr val="002060"/>
                </a:solidFill>
              </a:rPr>
              <a:t> Logistic regression favors interpretability over maximum predictive power.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Future work:</a:t>
            </a:r>
            <a:r>
              <a:rPr lang="en-US">
                <a:solidFill>
                  <a:srgbClr val="002060"/>
                </a:solidFill>
              </a:rPr>
              <a:t> Incorporate richer behavioral data and test advanced models for churn prediction.</a:t>
            </a:r>
            <a:endParaRPr lang="en-US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endParaRPr lang="en-GB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72356"/>
          </a:solidFill>
          <a:ln w="12700">
            <a:solidFill>
              <a:srgbClr val="172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387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PptxGenJS</dc:creator>
  <cp:revision>4</cp:revision>
  <dcterms:created xsi:type="dcterms:W3CDTF">2026-04-20T15:23:43Z</dcterms:created>
  <dcterms:modified xsi:type="dcterms:W3CDTF">2026-04-22T15:35:32Z</dcterms:modified>
</cp:coreProperties>
</file>