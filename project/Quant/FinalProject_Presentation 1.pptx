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701" autoAdjust="0"/>
  </p:normalViewPr>
  <p:slideViewPr>
    <p:cSldViewPr snapToGrid="0" snapToObjects="1">
      <p:cViewPr>
        <p:scale>
          <a:sx n="100" d="100"/>
          <a:sy n="100" d="100"/>
        </p:scale>
        <p:origin x="94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Monthly Return (%)</c:v>
                </c:pt>
              </c:strCache>
            </c:strRef>
          </c:tx>
          <c:spPr>
            <a:solidFill>
              <a:srgbClr val="0F2B4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D0
(Short)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
(Long)</c:v>
                </c:pt>
                <c:pt idx="10">
                  <c:v>Diff
(9−0)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0.17</c:v>
                </c:pt>
                <c:pt idx="1">
                  <c:v>0.72</c:v>
                </c:pt>
                <c:pt idx="2">
                  <c:v>0.9</c:v>
                </c:pt>
                <c:pt idx="3">
                  <c:v>1.02</c:v>
                </c:pt>
                <c:pt idx="4">
                  <c:v>1.08</c:v>
                </c:pt>
                <c:pt idx="5">
                  <c:v>1.03</c:v>
                </c:pt>
                <c:pt idx="6">
                  <c:v>1.08</c:v>
                </c:pt>
                <c:pt idx="7">
                  <c:v>1.1100000000000001</c:v>
                </c:pt>
                <c:pt idx="8">
                  <c:v>1.2</c:v>
                </c:pt>
                <c:pt idx="9">
                  <c:v>1.34</c:v>
                </c:pt>
                <c:pt idx="10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10-4EE7-859C-50BB09B925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D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08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I’m Helen and this is Siji. We built an </a:t>
            </a:r>
            <a:r>
              <a:rPr lang="en-US" dirty="0" err="1"/>
              <a:t>XGBoost</a:t>
            </a:r>
            <a:r>
              <a:rPr lang="en-US" dirty="0"/>
              <a:t> model to predict stock returns and tested it as a long-short trading strategy. Let's walk through what we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cover our features, the model, portfolio results, market neutrality, outlier handling, and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10 features — 8 from class plus two new ones. ROE — income over book equity — captures accrual-based profitability scaled by equity, distinct from the cash-flow ratios. Short-term reversal is simply last month's return — stocks with extreme moves tend to reverse. This is separate from momentum, which deliberately skips month t−1. All features are percentile-ranked to a 0-to-1 scale each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builds many small decision trees sequentially, where each tree corrects the prior ones. We use shallow trees — max depth 4 — to avoid overfitting. The </a:t>
            </a:r>
            <a:r>
              <a:rPr lang="en-US" dirty="0" err="1"/>
              <a:t>backtest</a:t>
            </a:r>
            <a:r>
              <a:rPr lang="en-US" dirty="0"/>
              <a:t> uses a 60-month rolling window: train on the past 5 years, predict next month, slide forward, repeat. Data runs 1995–2024, with out-of-sample evaluation from January 2000 — 299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month we sort stocks into 10 deciles by predicted return. The chart shows a clear monotonic increase — Decile 0 earns 0.17% per month, Decile 9 earns 1.34%. The model is capturing a real signal. The diff portfolio — long 9, short 0 — earns 1.17% monthly.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 portfolio delivers 14% annualized return, Sharpe of 0.74, and a t-stat of 3.71 — well above the 2.0 significance threshold. Max drawdown is −33.9%. The full decile breakdown is in the table and our executive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regressed diff returns on the Fama-French market factor. Beta is −0.33, statistically significant — so the portfolio is not market-neutral. The short leg holds high-beta speculative stocks, creating negative market exposure. However, alpha is 1.37% per month, also highly significant — the strategy generates real returns beyond market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defenses. Percentile ranking maps all features to 0–1, neutralizing extreme values. We replace infinities with </a:t>
            </a:r>
            <a:r>
              <a:rPr lang="en-US" dirty="0" err="1"/>
              <a:t>NaN</a:t>
            </a:r>
            <a:r>
              <a:rPr lang="en-US" dirty="0"/>
              <a:t> and drop them — this catches divide-by-zero cases like ROE when equity is near zero. And we exclude stocks under $10M market cap to remove micro-cap noise. </a:t>
            </a:r>
            <a:r>
              <a:rPr lang="en-US" dirty="0" err="1"/>
              <a:t>XGBoost's</a:t>
            </a:r>
            <a:r>
              <a:rPr lang="en-US" dirty="0"/>
              <a:t> tree splits are also inherently robust to outliers compared to linear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works — monotonic decile returns, significant alpha, Sharpe of 0.74 over 24 years out-of-sample. Our new features add distinct signals. The main limitation is the negative market beta. Future improvements could include beta hedging, additional factors, and hyperparameter tuning.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Stock Returns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XGBoost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Strategies &amp; Financial Analysis — Final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Siji Akinkugbe  &amp;  Helen Chen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Rationale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signals including 2 new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321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Implementation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212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60-month rolling window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returns and key metrics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502920" cy="50292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212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Neutrality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Fama-French regression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Outliers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ranking &amp; data cleaning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566160"/>
            <a:ext cx="502920" cy="50292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limitations, and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&amp; Rationale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 Features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(size)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Share Issuance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Growth (investment)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Book-to-Market (value)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(t-12 to t-2)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/ Assets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/ Price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Features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46320" y="1600200"/>
            <a:ext cx="3840480" cy="132588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46320" y="1600200"/>
            <a:ext cx="64008" cy="132588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2064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 =  IB / CEQ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20640" y="2011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efficiently equity is converted into profit. Distinct from cash-flow features — captures accrual profitability scaled by book equity (Fama-French profitability factor).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0" y="3108960"/>
            <a:ext cx="3840480" cy="132588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3108960"/>
            <a:ext cx="64008" cy="132588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2064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Reversal  =  RET(t−1)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12064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with extreme prior-month returns tend to reverse. Pure CRSP signal, complementary to momentum (which skips month t−1). Documented by Jegadeesh (1990).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are cross-sectionally percentile-ranked to [0, 1] each month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&amp; Implementation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XGBoost?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many small decision trees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the errors of the previous ones (gradient boosting)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interactions between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(splits on rank order, not magnitude)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0" y="1097280"/>
            <a:ext cx="3657600" cy="228600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1208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600200"/>
          <a:ext cx="329184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Max Depth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Learning Rate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0.3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Subsample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Col Sample / Tree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0.8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Gamma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0.2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Eval Metric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 Walk-Forward Backtest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solidFill>
            <a:srgbClr val="2D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60 months (rolling)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94960" y="4114800"/>
            <a:ext cx="1097280" cy="45720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39496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t+1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0" y="4343400"/>
            <a:ext cx="731520" cy="0"/>
          </a:xfrm>
          <a:prstGeom prst="line">
            <a:avLst/>
          </a:prstGeom>
          <a:noFill/>
          <a:ln w="25400">
            <a:solidFill>
              <a:srgbClr val="0F2B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315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1995–2024   |   290 rolling predictions   |   Evaluation: Jan 2000 onward (299 months OOS)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Decile Portfolio Returns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097280"/>
          <a:ext cx="7772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increase from Decile 0 to Decile 9 confirms the model captures a genuine return signal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1828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14.0%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88920" y="1051560"/>
            <a:ext cx="1828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889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18.9%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78892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Volatility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1051560"/>
            <a:ext cx="1828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84632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1051560"/>
            <a:ext cx="1828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037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3.71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90372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2194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Portfolio (Long Decile 9 − Short Decile 0)   |   Max Drawdown: −33.9%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6858000" cy="20116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 Mo. Ret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t-stat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Ann. Return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Ann. Vol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 (Short)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0.17%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9.34%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0.31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2.0%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32.3%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0.06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0.72%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7.28%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1.71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8.6%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25.2%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0.34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0.90%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6.40%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2.42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10.8%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22.2%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1.03%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5.46%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3.26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12.4%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18.9%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0.65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9 (Long)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1.34%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7.78%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2.97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16.1%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26.9%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4A5C"/>
                          </a:solidFill>
                        </a:rPr>
                        <a:t>0.60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Diff (9−0)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1.17%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5.44%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3.71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14.0%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18.9%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F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315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period: Jan 2000 – Dec 2024 (299 months out-of-sample)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Neutrality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Regression:   Diff Return  =  α  +  β × Mkt-RF  +  ε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6400800" cy="1280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Coefficient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Std. Error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t-stat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4A5C"/>
                          </a:solidFill>
                        </a:rPr>
                        <a:t>Alpha (α)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0.0137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0.003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4.48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AFA9"/>
                          </a:solidFill>
                        </a:rPr>
                        <a:t>&lt; 0.001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4A5C"/>
                          </a:solidFill>
                        </a:rPr>
                        <a:t>Beta (Mkt-RF)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−0.3281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0.066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−4.95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AFA9"/>
                          </a:solidFill>
                        </a:rPr>
                        <a:t>&lt; 0.001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4A5C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A5C"/>
                          </a:solidFill>
                        </a:rPr>
                        <a:t>0.076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" y="3108960"/>
            <a:ext cx="3657600" cy="137160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Market-Neutral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= −0.33 is statistically significant. The short leg (Decile 0) contains high-beta, speculative stocks, creating net negative market exposure.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93776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Alpha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1.37% per month (p &lt; 0.001). The strategy generates substantial returns beyond its market exposure. R² of only 7.6% means most return variation is idiosyncratic.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Outliers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outliers could affect performance: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(e.g., near-zero equity inflating ROE to infinity, data errors in micro-caps) can distort tree splits, bias feature importance, and inflate or deflate portfolio returns.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240280"/>
            <a:ext cx="2560320" cy="210312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" y="2377440"/>
            <a:ext cx="365760" cy="36576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Ranking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880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mapped to [0, 1] cross-sectionally each month. A stock with extreme raw ROE just gets rank ≈ 1.0 — no outsized numerical influence.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20440" y="2240280"/>
            <a:ext cx="2560320" cy="210312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0" y="23774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605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 / NaN Removal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0" y="2880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by zero (e.g., ROE when CEQ ≈ 0) explicitly replaced with NaN and dropped before training. Prevents undefined values from entering the model.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09360" y="2240280"/>
            <a:ext cx="2560320" cy="210312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46520" y="2377440"/>
            <a:ext cx="365760" cy="365760"/>
          </a:xfrm>
          <a:prstGeom prst="ellipse">
            <a:avLst/>
          </a:prstGeom>
          <a:solidFill>
            <a:srgbClr val="2D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46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494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Floor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46520" y="2880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below $10M excluded. Micro-caps are prone to data errors, extreme illiquidity, and anomalous returns unrelated to predictive signals.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315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Additionally, XGBoost's tree-based structure splits on rank order within a node — inherently more robust to outliers than linear models.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143000"/>
            <a:ext cx="7772400" cy="777240"/>
          </a:xfrm>
          <a:prstGeom prst="rect">
            <a:avLst/>
          </a:prstGeom>
          <a:solidFill>
            <a:srgbClr val="1A4B6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1430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FA9"/>
                </a:solidFill>
              </a:rPr>
              <a:t>Model works:  </a:t>
            </a:r>
            <a:r>
              <a:rPr lang="en-US" sz="1300" dirty="0">
                <a:solidFill>
                  <a:srgbClr val="D0D8E4"/>
                </a:solidFill>
              </a:rPr>
              <a:t>Monotonic decile pattern, Sharpe 0.74, statistically significant alpha over 24 years of out-of-sample testing.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103120"/>
            <a:ext cx="7772400" cy="777240"/>
          </a:xfrm>
          <a:prstGeom prst="rect">
            <a:avLst/>
          </a:prstGeom>
          <a:solidFill>
            <a:srgbClr val="1A4B6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FA9"/>
                </a:solidFill>
              </a:rPr>
              <a:t>New features contribute:  </a:t>
            </a:r>
            <a:r>
              <a:rPr lang="en-US" sz="1300" dirty="0">
                <a:solidFill>
                  <a:srgbClr val="D0D8E4"/>
                </a:solidFill>
              </a:rPr>
              <a:t>ROE (profitability) and short-term reversal (price dynamics) add distinct signals not captured by class features.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063240"/>
            <a:ext cx="7772400" cy="777240"/>
          </a:xfrm>
          <a:prstGeom prst="rect">
            <a:avLst/>
          </a:prstGeom>
          <a:solidFill>
            <a:srgbClr val="1A4B6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30632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FA9"/>
                </a:solidFill>
              </a:rPr>
              <a:t>Not fully market-neutral:  </a:t>
            </a:r>
            <a:r>
              <a:rPr lang="en-US" sz="1300" dirty="0">
                <a:solidFill>
                  <a:srgbClr val="D0D8E4"/>
                </a:solidFill>
              </a:rPr>
              <a:t>Beta of −0.33 means the portfolio has net negative market exposure — can underperform in strong bull markets.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4023360"/>
            <a:ext cx="7772400" cy="777240"/>
          </a:xfrm>
          <a:prstGeom prst="rect">
            <a:avLst/>
          </a:prstGeom>
          <a:solidFill>
            <a:srgbClr val="1A4B6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40233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FA9"/>
                </a:solidFill>
              </a:rPr>
              <a:t>Possible improvements:  </a:t>
            </a:r>
            <a:r>
              <a:rPr lang="en-US" sz="1300" dirty="0">
                <a:solidFill>
                  <a:srgbClr val="D0D8E4"/>
                </a:solidFill>
              </a:rPr>
              <a:t>Beta-neutralization hedge, additional factors (earnings surprise, analyst revisions), and hyperparameter tuning with cross-validation.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1298</Words>
  <Application>Microsoft Office PowerPoint</Application>
  <PresentationFormat>On-screen Show (16:9)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 Stock Return Prediction — Final Project</dc:title>
  <dc:subject>PptxGenJS Presentation</dc:subject>
  <dc:creator>Siji Akinkugbe, Helen Chen</dc:creator>
  <cp:lastModifiedBy>Chen, Shiling</cp:lastModifiedBy>
  <cp:revision>20</cp:revision>
  <dcterms:created xsi:type="dcterms:W3CDTF">2026-04-16T00:37:45Z</dcterms:created>
  <dcterms:modified xsi:type="dcterms:W3CDTF">2026-04-16T01:53:27Z</dcterms:modified>
</cp:coreProperties>
</file>